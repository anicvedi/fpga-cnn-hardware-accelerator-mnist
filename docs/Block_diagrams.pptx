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50" d="100"/>
          <a:sy n="50" d="100"/>
        </p:scale>
        <p:origin x="19" y="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CE55-E5CB-C79A-9CB6-66D3AD4B2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ADF97-32B3-BBA2-E011-0CB8B02AB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9788A-16CD-AC89-A76F-F2738DB9E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22043-B5B7-7E62-97FE-C4A2BCCD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6BE9B-E75E-6F79-CDD2-63767E3E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479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A45F-E4CC-DF90-0EDD-123A6EF16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1FFC7-FF63-12DE-CDE3-4EA87DE02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05A2C-0F45-15EB-DF42-77C93C10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FAD33-2222-C740-3F8F-82DD0059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E1FF5-6EBE-5487-10CA-29E29BF8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96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C828-2EF3-629A-F366-35D15B4E2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BEDC0-A9B3-16A6-0D1B-A9F06F1F4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657FA-E8B4-29A4-CC70-5D7BE4EE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208B2-EF79-1617-91AD-F23D864B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88A2E-98EA-2D17-7184-828A9020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66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E9CDA-6BF1-2669-109C-B0A7B1865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F071B-A6EC-7DE9-69EB-BB55B4026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6D227-A182-1DE9-60D1-AD28D81F9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54F1C-F129-25D5-77FF-AB9FE29CF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70FBA-FD42-31BA-47B2-C442CC430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0E751-3328-63BF-45B0-0FDAE1EED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51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9250E-BE79-9861-B8FD-6C270C9B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4AAFD-2214-4241-11C1-17F3E7EF3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6A616-1FA0-2964-A3F8-7F0CD698F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364793-E50B-3B7E-32E4-8250F60186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E933B-4223-70C9-8F9F-640769276A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F70C8-3C8B-E071-262F-945A65951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8FEAC7-FACA-9D25-7DCD-255E13773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7AA105-1AB2-7A61-06AF-A3685051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384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712AC-0F51-7C1C-6415-31803A7AC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F3305-16C3-551D-1F5B-B3E0F147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DBCEF1-CB5D-42AF-AD15-F87EA8578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85ABE-FE9B-CFD9-31BE-513B41EB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493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ECB2D3-99F0-39D1-2EB5-53BBB74D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08997-08F4-B4BE-2021-03D93B951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9C046-A6D5-3AA8-E25F-A12F8EF7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94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F35F-CA4B-8CD3-211A-64336C01B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108A-A693-A143-11F2-BE8517F0B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79BF2-288C-14F7-9AF4-5AF6BBBD3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166C-597E-33B3-5BE2-45BA8BF8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4F4B5-42AE-BAAD-A262-F7D82D73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A4A0A-CF22-2D3E-4303-CFB536CB0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670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95F1-7888-BD21-F990-7982765EE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95A7BB-DA4B-A40D-D3FE-F4DFD5B0E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63E06-3F2E-B4A1-897A-ABE699413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A56C6-E8D2-CA47-E8E6-12DDCA72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C04A3-DDFE-2E91-AA37-030AEE1F1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E8FF9-4601-488C-292E-9CECD27D0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09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26B9-E4D8-E73F-3DDC-8D7962CAD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D76EA-4E30-8168-5169-51C4CF8FC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FE857-CDFB-AF08-3F5F-FCC5574D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09EE0-D795-FFAD-5F8C-5619FE72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04507-4882-E4D0-D06F-3164A608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896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BC5CA-E20D-5640-1A38-BDDAFF0F9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518AB-FDD9-63D1-A27D-59A2B54DD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4E9C3-42FE-E5B3-0D5F-9B86EF95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F8220-06DB-2312-CCD1-DC77BC5B8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E8EA0-D155-23D7-F4AB-D9B26329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491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F84FE-9AA4-4BBB-31C1-3A27A530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93D40-7EB0-1D70-E513-0251A4DBA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9B818-1F25-2DD1-71BC-CA58A6486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9C1B9-A01F-467C-9470-3C1B80B295E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FE08D-BE6B-0AED-58B3-4C7827CB7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8A34E-90F9-2264-9470-8F9C8651C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4CF71-B460-4D18-B8A0-9C874D3A9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3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84C97A9-BDE7-58E0-22E1-0C8A33D28046}"/>
              </a:ext>
            </a:extLst>
          </p:cNvPr>
          <p:cNvGrpSpPr/>
          <p:nvPr/>
        </p:nvGrpSpPr>
        <p:grpSpPr>
          <a:xfrm>
            <a:off x="196645" y="314632"/>
            <a:ext cx="11248103" cy="6223820"/>
            <a:chOff x="196645" y="314632"/>
            <a:chExt cx="11248103" cy="622382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9A365C0-0C12-04B9-3828-21C42F531DE8}"/>
                </a:ext>
              </a:extLst>
            </p:cNvPr>
            <p:cNvSpPr/>
            <p:nvPr/>
          </p:nvSpPr>
          <p:spPr>
            <a:xfrm>
              <a:off x="196645" y="314632"/>
              <a:ext cx="11248103" cy="6223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24F8C5E6-6158-EB5D-8DCC-7C36AECD363C}"/>
                </a:ext>
              </a:extLst>
            </p:cNvPr>
            <p:cNvGrpSpPr/>
            <p:nvPr/>
          </p:nvGrpSpPr>
          <p:grpSpPr>
            <a:xfrm>
              <a:off x="304800" y="411480"/>
              <a:ext cx="11055947" cy="6035040"/>
              <a:chOff x="304800" y="411480"/>
              <a:chExt cx="11055947" cy="603504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CCAEE58-ABD5-FB8F-1764-5CFA925B776B}"/>
                  </a:ext>
                </a:extLst>
              </p:cNvPr>
              <p:cNvSpPr/>
              <p:nvPr/>
            </p:nvSpPr>
            <p:spPr>
              <a:xfrm>
                <a:off x="2812414" y="411480"/>
                <a:ext cx="8548333" cy="60350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Artix-7 XC7A200T</a:t>
                </a:r>
                <a:endParaRPr lang="en-I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9A36CF9-DE21-498F-D1D6-749A8FD363CB}"/>
                  </a:ext>
                </a:extLst>
              </p:cNvPr>
              <p:cNvSpPr/>
              <p:nvPr/>
            </p:nvSpPr>
            <p:spPr>
              <a:xfrm>
                <a:off x="304800" y="1701799"/>
                <a:ext cx="1354666" cy="17272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PC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FDE3257D-2CCC-75AD-6A17-36829FD8F741}"/>
                  </a:ext>
                </a:extLst>
              </p:cNvPr>
              <p:cNvCxnSpPr>
                <a:cxnSpLocks/>
                <a:stCxn id="5" idx="3"/>
              </p:cNvCxnSpPr>
              <p:nvPr/>
            </p:nvCxnSpPr>
            <p:spPr>
              <a:xfrm>
                <a:off x="1659466" y="2565400"/>
                <a:ext cx="115294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034ED8-2EA2-BB90-30EA-BF6FC400E851}"/>
                  </a:ext>
                </a:extLst>
              </p:cNvPr>
              <p:cNvSpPr txBox="1"/>
              <p:nvPr/>
            </p:nvSpPr>
            <p:spPr>
              <a:xfrm>
                <a:off x="1744980" y="2421141"/>
                <a:ext cx="925830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700" dirty="0"/>
                  <a:t>Serial link</a:t>
                </a:r>
                <a:endParaRPr lang="en-IN" sz="7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04CAFAC-8D11-DAF2-FB39-7E793FCDCB79}"/>
                  </a:ext>
                </a:extLst>
              </p:cNvPr>
              <p:cNvSpPr/>
              <p:nvPr/>
            </p:nvSpPr>
            <p:spPr>
              <a:xfrm>
                <a:off x="3221143" y="2096200"/>
                <a:ext cx="1100667" cy="9383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Serial to BRAM DMA handler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985E0F0-FD25-FD42-6B00-8D035C7B51DE}"/>
                  </a:ext>
                </a:extLst>
              </p:cNvPr>
              <p:cNvCxnSpPr>
                <a:cxnSpLocks/>
                <a:endCxn id="10" idx="1"/>
              </p:cNvCxnSpPr>
              <p:nvPr/>
            </p:nvCxnSpPr>
            <p:spPr>
              <a:xfrm>
                <a:off x="2812414" y="2565400"/>
                <a:ext cx="40872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34EB259-B92F-32AC-8447-806CBE58448D}"/>
                  </a:ext>
                </a:extLst>
              </p:cNvPr>
              <p:cNvSpPr txBox="1"/>
              <p:nvPr/>
            </p:nvSpPr>
            <p:spPr>
              <a:xfrm>
                <a:off x="2812414" y="2421141"/>
                <a:ext cx="317924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700" dirty="0"/>
                  <a:t>GPIO</a:t>
                </a:r>
                <a:endParaRPr lang="en-IN" sz="700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398F1C4-A5FF-1C27-3BB0-F2A795930875}"/>
                  </a:ext>
                </a:extLst>
              </p:cNvPr>
              <p:cNvSpPr/>
              <p:nvPr/>
            </p:nvSpPr>
            <p:spPr>
              <a:xfrm>
                <a:off x="4908179" y="2096200"/>
                <a:ext cx="1028595" cy="9383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Global Buffer BRAM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DAE2EC17-9CD8-5ED3-AC01-14DDDD6CB825}"/>
                  </a:ext>
                </a:extLst>
              </p:cNvPr>
              <p:cNvCxnSpPr>
                <a:cxnSpLocks/>
                <a:stCxn id="10" idx="3"/>
                <a:endCxn id="21" idx="1"/>
              </p:cNvCxnSpPr>
              <p:nvPr/>
            </p:nvCxnSpPr>
            <p:spPr>
              <a:xfrm>
                <a:off x="4321810" y="2565400"/>
                <a:ext cx="58636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D561CE0-D4EB-59E6-C2A6-CE2EC5C6D086}"/>
                  </a:ext>
                </a:extLst>
              </p:cNvPr>
              <p:cNvSpPr/>
              <p:nvPr/>
            </p:nvSpPr>
            <p:spPr>
              <a:xfrm>
                <a:off x="6660986" y="608535"/>
                <a:ext cx="4250852" cy="62526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Controller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Connector: Elbow 29">
                <a:extLst>
                  <a:ext uri="{FF2B5EF4-FFF2-40B4-BE49-F238E27FC236}">
                    <a16:creationId xmlns:a16="http://schemas.microsoft.com/office/drawing/2014/main" id="{DD6BFF21-851B-1639-A0E0-1D7DCA641F55}"/>
                  </a:ext>
                </a:extLst>
              </p:cNvPr>
              <p:cNvCxnSpPr>
                <a:cxnSpLocks/>
                <a:stCxn id="21" idx="0"/>
                <a:endCxn id="26" idx="1"/>
              </p:cNvCxnSpPr>
              <p:nvPr/>
            </p:nvCxnSpPr>
            <p:spPr>
              <a:xfrm rot="5400000" flipH="1" flipV="1">
                <a:off x="5454216" y="889431"/>
                <a:ext cx="1175030" cy="1238509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2D7CA33-2DD4-5247-4830-7C532565F9A7}"/>
                  </a:ext>
                </a:extLst>
              </p:cNvPr>
              <p:cNvSpPr txBox="1"/>
              <p:nvPr/>
            </p:nvSpPr>
            <p:spPr>
              <a:xfrm rot="16200000">
                <a:off x="4874179" y="1458937"/>
                <a:ext cx="77343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700" dirty="0"/>
                  <a:t>Opcode, </a:t>
                </a:r>
                <a:br>
                  <a:rPr lang="en-US" sz="700" dirty="0"/>
                </a:br>
                <a:r>
                  <a:rPr lang="en-US" sz="700" dirty="0"/>
                  <a:t>Data read </a:t>
                </a:r>
                <a:r>
                  <a:rPr lang="en-US" sz="700" dirty="0" err="1"/>
                  <a:t>addr</a:t>
                </a:r>
                <a:r>
                  <a:rPr lang="en-US" sz="700" dirty="0"/>
                  <a:t>,</a:t>
                </a:r>
                <a:br>
                  <a:rPr lang="en-US" sz="700" dirty="0"/>
                </a:br>
                <a:r>
                  <a:rPr lang="en-US" sz="700" dirty="0"/>
                  <a:t>Data write </a:t>
                </a:r>
                <a:r>
                  <a:rPr lang="en-US" sz="700" dirty="0" err="1"/>
                  <a:t>addr</a:t>
                </a:r>
                <a:endParaRPr lang="en-IN" sz="700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F25D21A-951F-5CAD-6FAC-0B248695E8DC}"/>
                  </a:ext>
                </a:extLst>
              </p:cNvPr>
              <p:cNvSpPr/>
              <p:nvPr/>
            </p:nvSpPr>
            <p:spPr>
              <a:xfrm>
                <a:off x="6660988" y="1701799"/>
                <a:ext cx="4250852" cy="45476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Systolic matrix multiplier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E7ECA115-6BB6-A589-BFA4-7E58EA214208}"/>
                  </a:ext>
                </a:extLst>
              </p:cNvPr>
              <p:cNvCxnSpPr>
                <a:cxnSpLocks/>
                <a:stCxn id="26" idx="2"/>
                <a:endCxn id="36" idx="0"/>
              </p:cNvCxnSpPr>
              <p:nvPr/>
            </p:nvCxnSpPr>
            <p:spPr>
              <a:xfrm>
                <a:off x="8786412" y="1233804"/>
                <a:ext cx="2" cy="4679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47817A4A-9681-6B68-AB36-D42FEAB8ACD5}"/>
                  </a:ext>
                </a:extLst>
              </p:cNvPr>
              <p:cNvCxnSpPr>
                <a:cxnSpLocks/>
                <a:stCxn id="21" idx="3"/>
              </p:cNvCxnSpPr>
              <p:nvPr/>
            </p:nvCxnSpPr>
            <p:spPr>
              <a:xfrm>
                <a:off x="5936774" y="2565400"/>
                <a:ext cx="724214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56C53B7-A6FE-AE1E-23CC-A6B3C09CB584}"/>
                  </a:ext>
                </a:extLst>
              </p:cNvPr>
              <p:cNvSpPr/>
              <p:nvPr/>
            </p:nvSpPr>
            <p:spPr>
              <a:xfrm>
                <a:off x="7574622" y="3366671"/>
                <a:ext cx="864669" cy="13439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converter for input </a:t>
                </a:r>
                <a:r>
                  <a:rPr lang="en-US" sz="1100" dirty="0" err="1">
                    <a:solidFill>
                      <a:schemeClr val="tx1"/>
                    </a:solidFill>
                  </a:rPr>
                  <a:t>fmap</a:t>
                </a:r>
                <a:r>
                  <a:rPr lang="en-US" sz="1100" dirty="0">
                    <a:solidFill>
                      <a:schemeClr val="tx1"/>
                    </a:solidFill>
                  </a:rPr>
                  <a:t> to line buffers for PE array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C3F2D3F-623C-B09D-432B-B01FFDC309E7}"/>
                  </a:ext>
                </a:extLst>
              </p:cNvPr>
              <p:cNvSpPr/>
              <p:nvPr/>
            </p:nvSpPr>
            <p:spPr>
              <a:xfrm>
                <a:off x="9271048" y="3368513"/>
                <a:ext cx="1329638" cy="13439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25x10 PE Array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7884C7D9-2A9A-3698-3912-AD4DD1D05A2C}"/>
                  </a:ext>
                </a:extLst>
              </p:cNvPr>
              <p:cNvSpPr/>
              <p:nvPr/>
            </p:nvSpPr>
            <p:spPr>
              <a:xfrm>
                <a:off x="9271048" y="2096200"/>
                <a:ext cx="1329638" cy="5830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converter for weights to line buffers for PE array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072E931D-9637-F026-BA4B-9B8DDB2ACCE7}"/>
                  </a:ext>
                </a:extLst>
              </p:cNvPr>
              <p:cNvSpPr/>
              <p:nvPr/>
            </p:nvSpPr>
            <p:spPr>
              <a:xfrm>
                <a:off x="9271048" y="2839147"/>
                <a:ext cx="1329638" cy="3617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Weights buffer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056B3663-A92A-14BB-DA80-237C1E1F9733}"/>
                  </a:ext>
                </a:extLst>
              </p:cNvPr>
              <p:cNvSpPr/>
              <p:nvPr/>
            </p:nvSpPr>
            <p:spPr>
              <a:xfrm rot="16200000">
                <a:off x="8197800" y="3859412"/>
                <a:ext cx="1336806" cy="3617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Input </a:t>
                </a:r>
                <a:r>
                  <a:rPr lang="en-US" sz="1100" dirty="0" err="1">
                    <a:solidFill>
                      <a:schemeClr val="tx1"/>
                    </a:solidFill>
                  </a:rPr>
                  <a:t>fmap</a:t>
                </a:r>
                <a:r>
                  <a:rPr lang="en-US" sz="1100" dirty="0">
                    <a:solidFill>
                      <a:schemeClr val="tx1"/>
                    </a:solidFill>
                  </a:rPr>
                  <a:t> buffer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64ED2D4A-AAB4-3B56-A7EA-1991EF629691}"/>
                  </a:ext>
                </a:extLst>
              </p:cNvPr>
              <p:cNvCxnSpPr>
                <a:stCxn id="85" idx="2"/>
                <a:endCxn id="86" idx="0"/>
              </p:cNvCxnSpPr>
              <p:nvPr/>
            </p:nvCxnSpPr>
            <p:spPr>
              <a:xfrm>
                <a:off x="9935867" y="2679221"/>
                <a:ext cx="0" cy="1599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168D51A9-5FA3-2E70-1981-B3A7771487B8}"/>
                  </a:ext>
                </a:extLst>
              </p:cNvPr>
              <p:cNvCxnSpPr>
                <a:stCxn id="86" idx="2"/>
                <a:endCxn id="57" idx="0"/>
              </p:cNvCxnSpPr>
              <p:nvPr/>
            </p:nvCxnSpPr>
            <p:spPr>
              <a:xfrm>
                <a:off x="9935867" y="3200871"/>
                <a:ext cx="0" cy="167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FD802052-2A07-18C8-93E2-4518ED176194}"/>
                  </a:ext>
                </a:extLst>
              </p:cNvPr>
              <p:cNvCxnSpPr>
                <a:stCxn id="50" idx="3"/>
                <a:endCxn id="87" idx="0"/>
              </p:cNvCxnSpPr>
              <p:nvPr/>
            </p:nvCxnSpPr>
            <p:spPr>
              <a:xfrm>
                <a:off x="8439291" y="4038658"/>
                <a:ext cx="246050" cy="16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74D12A9A-8AB9-81CB-37FD-B449C1D4D49F}"/>
                  </a:ext>
                </a:extLst>
              </p:cNvPr>
              <p:cNvCxnSpPr>
                <a:stCxn id="87" idx="2"/>
                <a:endCxn id="57" idx="1"/>
              </p:cNvCxnSpPr>
              <p:nvPr/>
            </p:nvCxnSpPr>
            <p:spPr>
              <a:xfrm>
                <a:off x="9047065" y="4040274"/>
                <a:ext cx="223983" cy="2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BB7B58D2-3306-93CD-624A-9A0D438B35B5}"/>
                  </a:ext>
                </a:extLst>
              </p:cNvPr>
              <p:cNvSpPr/>
              <p:nvPr/>
            </p:nvSpPr>
            <p:spPr>
              <a:xfrm>
                <a:off x="9271048" y="4879903"/>
                <a:ext cx="1329638" cy="2094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 err="1">
                    <a:solidFill>
                      <a:schemeClr val="tx1"/>
                    </a:solidFill>
                  </a:rPr>
                  <a:t>ReLU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808C33B7-8EAB-02DC-5932-4C134916A9BB}"/>
                  </a:ext>
                </a:extLst>
              </p:cNvPr>
              <p:cNvSpPr/>
              <p:nvPr/>
            </p:nvSpPr>
            <p:spPr>
              <a:xfrm>
                <a:off x="7051296" y="5330819"/>
                <a:ext cx="955660" cy="5830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Fixed point 16 truncation</a:t>
                </a:r>
                <a:endParaRPr lang="en-I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C011999-5725-AD2C-6A9E-77CDF8CFAB97}"/>
                  </a:ext>
                </a:extLst>
              </p:cNvPr>
              <p:cNvSpPr/>
              <p:nvPr/>
            </p:nvSpPr>
            <p:spPr>
              <a:xfrm>
                <a:off x="9271048" y="5330819"/>
                <a:ext cx="1329638" cy="5830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converter from line buffers to BRAM format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4A649EF-ABC5-23EA-C872-DF78090A7119}"/>
                  </a:ext>
                </a:extLst>
              </p:cNvPr>
              <p:cNvSpPr/>
              <p:nvPr/>
            </p:nvSpPr>
            <p:spPr>
              <a:xfrm>
                <a:off x="8232861" y="5330819"/>
                <a:ext cx="779951" cy="5830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 err="1">
                    <a:solidFill>
                      <a:schemeClr val="tx1"/>
                    </a:solidFill>
                  </a:rPr>
                  <a:t>MaxPool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4554B5D2-326C-3784-0D01-302E28847919}"/>
                  </a:ext>
                </a:extLst>
              </p:cNvPr>
              <p:cNvCxnSpPr>
                <a:stCxn id="57" idx="2"/>
                <a:endCxn id="102" idx="0"/>
              </p:cNvCxnSpPr>
              <p:nvPr/>
            </p:nvCxnSpPr>
            <p:spPr>
              <a:xfrm>
                <a:off x="9935867" y="4712487"/>
                <a:ext cx="0" cy="1674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0D6D217-C3D5-0C4C-4E2B-3E5FD6AC1014}"/>
                  </a:ext>
                </a:extLst>
              </p:cNvPr>
              <p:cNvCxnSpPr>
                <a:stCxn id="102" idx="2"/>
                <a:endCxn id="107" idx="0"/>
              </p:cNvCxnSpPr>
              <p:nvPr/>
            </p:nvCxnSpPr>
            <p:spPr>
              <a:xfrm>
                <a:off x="9935867" y="5089379"/>
                <a:ext cx="0" cy="2414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FCD7906E-C00F-5F65-BF95-44CB07A612CE}"/>
                  </a:ext>
                </a:extLst>
              </p:cNvPr>
              <p:cNvCxnSpPr>
                <a:stCxn id="107" idx="1"/>
                <a:endCxn id="108" idx="3"/>
              </p:cNvCxnSpPr>
              <p:nvPr/>
            </p:nvCxnSpPr>
            <p:spPr>
              <a:xfrm flipH="1">
                <a:off x="9012812" y="5622330"/>
                <a:ext cx="25823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2A764BF5-F2C7-1983-4FD4-A6C8C323D381}"/>
                  </a:ext>
                </a:extLst>
              </p:cNvPr>
              <p:cNvCxnSpPr>
                <a:stCxn id="108" idx="1"/>
                <a:endCxn id="103" idx="3"/>
              </p:cNvCxnSpPr>
              <p:nvPr/>
            </p:nvCxnSpPr>
            <p:spPr>
              <a:xfrm flipH="1">
                <a:off x="8006956" y="5622330"/>
                <a:ext cx="2259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Connector: Elbow 126">
                <a:extLst>
                  <a:ext uri="{FF2B5EF4-FFF2-40B4-BE49-F238E27FC236}">
                    <a16:creationId xmlns:a16="http://schemas.microsoft.com/office/drawing/2014/main" id="{80C29B75-8869-D05F-5985-804BC7269C5B}"/>
                  </a:ext>
                </a:extLst>
              </p:cNvPr>
              <p:cNvCxnSpPr>
                <a:endCxn id="85" idx="1"/>
              </p:cNvCxnSpPr>
              <p:nvPr/>
            </p:nvCxnSpPr>
            <p:spPr>
              <a:xfrm flipV="1">
                <a:off x="6660986" y="2387711"/>
                <a:ext cx="2610062" cy="177689"/>
              </a:xfrm>
              <a:prstGeom prst="bentConnector3">
                <a:avLst>
                  <a:gd name="adj1" fmla="val 796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Connector: Elbow 128">
                <a:extLst>
                  <a:ext uri="{FF2B5EF4-FFF2-40B4-BE49-F238E27FC236}">
                    <a16:creationId xmlns:a16="http://schemas.microsoft.com/office/drawing/2014/main" id="{A210C8FB-465B-7103-C0D4-E6CF96FF2FA5}"/>
                  </a:ext>
                </a:extLst>
              </p:cNvPr>
              <p:cNvCxnSpPr>
                <a:cxnSpLocks/>
                <a:endCxn id="50" idx="1"/>
              </p:cNvCxnSpPr>
              <p:nvPr/>
            </p:nvCxnSpPr>
            <p:spPr>
              <a:xfrm rot="16200000" flipH="1">
                <a:off x="6485175" y="2949211"/>
                <a:ext cx="1473260" cy="705634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Connector: Elbow 135">
                <a:extLst>
                  <a:ext uri="{FF2B5EF4-FFF2-40B4-BE49-F238E27FC236}">
                    <a16:creationId xmlns:a16="http://schemas.microsoft.com/office/drawing/2014/main" id="{6E62071A-5ACC-FF6D-3221-9FAE4DE004F2}"/>
                  </a:ext>
                </a:extLst>
              </p:cNvPr>
              <p:cNvCxnSpPr>
                <a:stCxn id="103" idx="1"/>
              </p:cNvCxnSpPr>
              <p:nvPr/>
            </p:nvCxnSpPr>
            <p:spPr>
              <a:xfrm rot="10800000">
                <a:off x="6772276" y="2565398"/>
                <a:ext cx="279021" cy="3056933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B29E55CD-5411-0918-7CAB-B3442B663375}"/>
                  </a:ext>
                </a:extLst>
              </p:cNvPr>
              <p:cNvSpPr/>
              <p:nvPr/>
            </p:nvSpPr>
            <p:spPr>
              <a:xfrm>
                <a:off x="4908179" y="3429000"/>
                <a:ext cx="1028595" cy="10016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Read classification scores and find highest 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BCC5800A-8A1B-CFC7-ED6D-C534A8FADAAB}"/>
                  </a:ext>
                </a:extLst>
              </p:cNvPr>
              <p:cNvSpPr/>
              <p:nvPr/>
            </p:nvSpPr>
            <p:spPr>
              <a:xfrm>
                <a:off x="4908178" y="4878913"/>
                <a:ext cx="1028596" cy="10016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7 segment display driver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8392D5D1-27C6-D301-C382-0B553B4C1F35}"/>
                  </a:ext>
                </a:extLst>
              </p:cNvPr>
              <p:cNvCxnSpPr>
                <a:cxnSpLocks/>
                <a:stCxn id="139" idx="2"/>
                <a:endCxn id="140" idx="0"/>
              </p:cNvCxnSpPr>
              <p:nvPr/>
            </p:nvCxnSpPr>
            <p:spPr>
              <a:xfrm flipH="1">
                <a:off x="5422476" y="4430613"/>
                <a:ext cx="1" cy="4483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A5C16A1-1D08-A714-1682-3992776EE661}"/>
                  </a:ext>
                </a:extLst>
              </p:cNvPr>
              <p:cNvCxnSpPr>
                <a:cxnSpLocks/>
                <a:stCxn id="21" idx="2"/>
                <a:endCxn id="139" idx="0"/>
              </p:cNvCxnSpPr>
              <p:nvPr/>
            </p:nvCxnSpPr>
            <p:spPr>
              <a:xfrm>
                <a:off x="5422477" y="3034599"/>
                <a:ext cx="0" cy="3944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D5555FB0-A811-DEE3-2004-AC2EF194EF23}"/>
                  </a:ext>
                </a:extLst>
              </p:cNvPr>
              <p:cNvSpPr/>
              <p:nvPr/>
            </p:nvSpPr>
            <p:spPr>
              <a:xfrm>
                <a:off x="304800" y="4920397"/>
                <a:ext cx="1354666" cy="9186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 segment display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3" name="Straight Arrow Connector 152">
                <a:extLst>
                  <a:ext uri="{FF2B5EF4-FFF2-40B4-BE49-F238E27FC236}">
                    <a16:creationId xmlns:a16="http://schemas.microsoft.com/office/drawing/2014/main" id="{3C0F9EE6-FD46-7396-7D8F-6A2437F9B7CE}"/>
                  </a:ext>
                </a:extLst>
              </p:cNvPr>
              <p:cNvCxnSpPr>
                <a:stCxn id="140" idx="1"/>
                <a:endCxn id="151" idx="3"/>
              </p:cNvCxnSpPr>
              <p:nvPr/>
            </p:nvCxnSpPr>
            <p:spPr>
              <a:xfrm flipH="1" flipV="1">
                <a:off x="1659466" y="5379719"/>
                <a:ext cx="324871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61294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3640BB46-BC24-0772-AE8C-33CD11F53AB3}"/>
              </a:ext>
            </a:extLst>
          </p:cNvPr>
          <p:cNvGrpSpPr/>
          <p:nvPr/>
        </p:nvGrpSpPr>
        <p:grpSpPr>
          <a:xfrm>
            <a:off x="304800" y="411480"/>
            <a:ext cx="11582400" cy="6035040"/>
            <a:chOff x="304800" y="411480"/>
            <a:chExt cx="11582400" cy="60350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7D54CD-350D-0721-28E1-94C35B9B5274}"/>
                </a:ext>
              </a:extLst>
            </p:cNvPr>
            <p:cNvSpPr/>
            <p:nvPr/>
          </p:nvSpPr>
          <p:spPr>
            <a:xfrm>
              <a:off x="2812414" y="411480"/>
              <a:ext cx="9074786" cy="603504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>
                  <a:solidFill>
                    <a:schemeClr val="tx1"/>
                  </a:solidFill>
                </a:rPr>
                <a:t>Artix-7 XC7A200T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DF64DE-E1C4-0EAC-4666-7C937381CB2E}"/>
                </a:ext>
              </a:extLst>
            </p:cNvPr>
            <p:cNvSpPr/>
            <p:nvPr/>
          </p:nvSpPr>
          <p:spPr>
            <a:xfrm>
              <a:off x="304800" y="1701799"/>
              <a:ext cx="1354666" cy="17272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PC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AE23D86-6FDF-3CFA-F868-E0FEC1DF7837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1659466" y="2565400"/>
              <a:ext cx="115294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23ECF6-29E7-5567-84F0-C75DA0E63861}"/>
                </a:ext>
              </a:extLst>
            </p:cNvPr>
            <p:cNvSpPr txBox="1"/>
            <p:nvPr/>
          </p:nvSpPr>
          <p:spPr>
            <a:xfrm>
              <a:off x="1744980" y="2421141"/>
              <a:ext cx="92583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700" dirty="0"/>
                <a:t>Serial link</a:t>
              </a:r>
              <a:endParaRPr lang="en-IN" sz="7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551270-27CE-AC4E-B28A-DDC434E0E56C}"/>
                </a:ext>
              </a:extLst>
            </p:cNvPr>
            <p:cNvSpPr/>
            <p:nvPr/>
          </p:nvSpPr>
          <p:spPr>
            <a:xfrm>
              <a:off x="3221143" y="2096200"/>
              <a:ext cx="1100667" cy="93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Serial to BRAM DMA handler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AF40D2C-9BD4-76FA-240B-51A214726E3F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2812414" y="2565400"/>
              <a:ext cx="4087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CBB02B-3C25-834A-8D0F-56AE4887B3E1}"/>
                </a:ext>
              </a:extLst>
            </p:cNvPr>
            <p:cNvSpPr txBox="1"/>
            <p:nvPr/>
          </p:nvSpPr>
          <p:spPr>
            <a:xfrm>
              <a:off x="2812414" y="2421141"/>
              <a:ext cx="31792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700" dirty="0"/>
                <a:t>GPIO</a:t>
              </a:r>
              <a:endParaRPr lang="en-IN" sz="7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AA64EA-8155-AE7D-6334-EB826166727B}"/>
                </a:ext>
              </a:extLst>
            </p:cNvPr>
            <p:cNvSpPr/>
            <p:nvPr/>
          </p:nvSpPr>
          <p:spPr>
            <a:xfrm>
              <a:off x="4908179" y="2096200"/>
              <a:ext cx="1946038" cy="93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AXI Bus for BRAMs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42C4639-7468-63E6-70EB-1729B058D2B2}"/>
                </a:ext>
              </a:extLst>
            </p:cNvPr>
            <p:cNvCxnSpPr>
              <a:cxnSpLocks/>
              <a:stCxn id="8" idx="3"/>
              <a:endCxn id="11" idx="1"/>
            </p:cNvCxnSpPr>
            <p:nvPr/>
          </p:nvCxnSpPr>
          <p:spPr>
            <a:xfrm>
              <a:off x="4321810" y="2565400"/>
              <a:ext cx="5863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1A826CF-3FA4-8966-0F73-89481DEF4891}"/>
                </a:ext>
              </a:extLst>
            </p:cNvPr>
            <p:cNvSpPr/>
            <p:nvPr/>
          </p:nvSpPr>
          <p:spPr>
            <a:xfrm>
              <a:off x="7407746" y="608535"/>
              <a:ext cx="4250852" cy="6252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Controller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A4E2B6B1-3977-F464-25DF-EC4E7C2FB6C0}"/>
                </a:ext>
              </a:extLst>
            </p:cNvPr>
            <p:cNvCxnSpPr>
              <a:cxnSpLocks/>
              <a:stCxn id="11" idx="0"/>
              <a:endCxn id="13" idx="1"/>
            </p:cNvCxnSpPr>
            <p:nvPr/>
          </p:nvCxnSpPr>
          <p:spPr>
            <a:xfrm rot="5400000" flipH="1" flipV="1">
              <a:off x="6056957" y="745411"/>
              <a:ext cx="1175030" cy="152654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6B8043-DF72-2465-C98A-1004F7155CD6}"/>
                </a:ext>
              </a:extLst>
            </p:cNvPr>
            <p:cNvSpPr txBox="1"/>
            <p:nvPr/>
          </p:nvSpPr>
          <p:spPr>
            <a:xfrm rot="16200000">
              <a:off x="5316479" y="1347102"/>
              <a:ext cx="773430" cy="323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700" dirty="0"/>
                <a:t>Opcode, </a:t>
              </a:r>
              <a:br>
                <a:rPr lang="en-US" sz="700" dirty="0"/>
              </a:br>
              <a:r>
                <a:rPr lang="en-US" sz="700" dirty="0"/>
                <a:t>Data read </a:t>
              </a:r>
              <a:r>
                <a:rPr lang="en-US" sz="700" dirty="0" err="1"/>
                <a:t>addr</a:t>
              </a:r>
              <a:r>
                <a:rPr lang="en-US" sz="700" dirty="0"/>
                <a:t>,</a:t>
              </a:r>
              <a:br>
                <a:rPr lang="en-US" sz="700" dirty="0"/>
              </a:br>
              <a:r>
                <a:rPr lang="en-US" sz="700" dirty="0"/>
                <a:t>Data write </a:t>
              </a:r>
              <a:r>
                <a:rPr lang="en-US" sz="700" dirty="0" err="1"/>
                <a:t>addr</a:t>
              </a:r>
              <a:endParaRPr lang="en-IN" sz="7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CB5FC81-057C-DE77-137C-A9AEC953AFAD}"/>
                </a:ext>
              </a:extLst>
            </p:cNvPr>
            <p:cNvSpPr/>
            <p:nvPr/>
          </p:nvSpPr>
          <p:spPr>
            <a:xfrm>
              <a:off x="7407748" y="1701799"/>
              <a:ext cx="4250852" cy="45476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Systolic matrix multiplier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431CB24-D938-32AF-BC2B-F413A6909F08}"/>
                </a:ext>
              </a:extLst>
            </p:cNvPr>
            <p:cNvCxnSpPr>
              <a:cxnSpLocks/>
              <a:stCxn id="13" idx="2"/>
              <a:endCxn id="16" idx="0"/>
            </p:cNvCxnSpPr>
            <p:nvPr/>
          </p:nvCxnSpPr>
          <p:spPr>
            <a:xfrm>
              <a:off x="9533172" y="1233804"/>
              <a:ext cx="2" cy="4679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BBA93BE-62DF-FCE7-9C91-E19CB4DAC9B1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6854217" y="2565400"/>
              <a:ext cx="55352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4B7672-7F35-C390-1828-3F2CDD319739}"/>
                </a:ext>
              </a:extLst>
            </p:cNvPr>
            <p:cNvSpPr/>
            <p:nvPr/>
          </p:nvSpPr>
          <p:spPr>
            <a:xfrm>
              <a:off x="8321382" y="3366671"/>
              <a:ext cx="864669" cy="13439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Data converter for input </a:t>
              </a:r>
              <a:r>
                <a:rPr lang="en-US" sz="1100" dirty="0" err="1">
                  <a:solidFill>
                    <a:schemeClr val="tx1"/>
                  </a:solidFill>
                </a:rPr>
                <a:t>fmap</a:t>
              </a:r>
              <a:r>
                <a:rPr lang="en-US" sz="1100" dirty="0">
                  <a:solidFill>
                    <a:schemeClr val="tx1"/>
                  </a:solidFill>
                </a:rPr>
                <a:t> to line buffers for PE array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689301B-F799-1700-FD68-89D7D5E36CCC}"/>
                </a:ext>
              </a:extLst>
            </p:cNvPr>
            <p:cNvSpPr/>
            <p:nvPr/>
          </p:nvSpPr>
          <p:spPr>
            <a:xfrm>
              <a:off x="10017808" y="3368513"/>
              <a:ext cx="1329638" cy="134397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25x10 PE Array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35A0547-823E-B539-E144-A57E6258422E}"/>
                </a:ext>
              </a:extLst>
            </p:cNvPr>
            <p:cNvSpPr/>
            <p:nvPr/>
          </p:nvSpPr>
          <p:spPr>
            <a:xfrm>
              <a:off x="10017808" y="2096200"/>
              <a:ext cx="1329638" cy="5830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Data converter for weights to line buffers for PE array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DDB892D-4E63-6786-CA44-634F327A48AC}"/>
                </a:ext>
              </a:extLst>
            </p:cNvPr>
            <p:cNvSpPr/>
            <p:nvPr/>
          </p:nvSpPr>
          <p:spPr>
            <a:xfrm>
              <a:off x="10017808" y="2839147"/>
              <a:ext cx="1329638" cy="3617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Weights buffer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3172028-4A16-F65B-F7EA-AEB78B341F2E}"/>
                </a:ext>
              </a:extLst>
            </p:cNvPr>
            <p:cNvSpPr/>
            <p:nvPr/>
          </p:nvSpPr>
          <p:spPr>
            <a:xfrm rot="16200000">
              <a:off x="8944560" y="3859412"/>
              <a:ext cx="1336806" cy="3617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Input </a:t>
              </a:r>
              <a:r>
                <a:rPr lang="en-US" sz="1100" dirty="0" err="1">
                  <a:solidFill>
                    <a:schemeClr val="tx1"/>
                  </a:solidFill>
                </a:rPr>
                <a:t>fmap</a:t>
              </a:r>
              <a:r>
                <a:rPr lang="en-US" sz="1100" dirty="0">
                  <a:solidFill>
                    <a:schemeClr val="tx1"/>
                  </a:solidFill>
                </a:rPr>
                <a:t> buffer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71401ED-F3BA-B726-2D9C-6E32AE6C2A45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10682627" y="2679221"/>
              <a:ext cx="0" cy="1599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AAFE187-D083-84F4-EDF8-8B7ABF3CC06D}"/>
                </a:ext>
              </a:extLst>
            </p:cNvPr>
            <p:cNvCxnSpPr>
              <a:stCxn id="22" idx="2"/>
              <a:endCxn id="20" idx="0"/>
            </p:cNvCxnSpPr>
            <p:nvPr/>
          </p:nvCxnSpPr>
          <p:spPr>
            <a:xfrm>
              <a:off x="10682627" y="3200871"/>
              <a:ext cx="0" cy="1676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7B6CE6E-289B-8A26-7271-114D95AE58F9}"/>
                </a:ext>
              </a:extLst>
            </p:cNvPr>
            <p:cNvCxnSpPr>
              <a:stCxn id="19" idx="3"/>
              <a:endCxn id="23" idx="0"/>
            </p:cNvCxnSpPr>
            <p:nvPr/>
          </p:nvCxnSpPr>
          <p:spPr>
            <a:xfrm>
              <a:off x="9186051" y="4038658"/>
              <a:ext cx="246050" cy="1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65ECAD5-6BA2-617F-F7C4-E4B41B6D45CA}"/>
                </a:ext>
              </a:extLst>
            </p:cNvPr>
            <p:cNvCxnSpPr>
              <a:stCxn id="23" idx="2"/>
              <a:endCxn id="20" idx="1"/>
            </p:cNvCxnSpPr>
            <p:nvPr/>
          </p:nvCxnSpPr>
          <p:spPr>
            <a:xfrm>
              <a:off x="9793825" y="4040274"/>
              <a:ext cx="223983" cy="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73D6BAB-9896-AC9C-3995-DCCC25C66768}"/>
                </a:ext>
              </a:extLst>
            </p:cNvPr>
            <p:cNvSpPr/>
            <p:nvPr/>
          </p:nvSpPr>
          <p:spPr>
            <a:xfrm>
              <a:off x="10017808" y="4879903"/>
              <a:ext cx="1329638" cy="2094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tx1"/>
                  </a:solidFill>
                </a:rPr>
                <a:t>ReLU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139C200-053A-0816-86C9-0B4079D065B3}"/>
                </a:ext>
              </a:extLst>
            </p:cNvPr>
            <p:cNvSpPr/>
            <p:nvPr/>
          </p:nvSpPr>
          <p:spPr>
            <a:xfrm>
              <a:off x="7798056" y="5330819"/>
              <a:ext cx="955660" cy="5830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Fixed point 16 truncation</a:t>
              </a:r>
              <a:endParaRPr lang="en-IN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9A290E9-975C-E2DE-D0BD-40D423522ACF}"/>
                </a:ext>
              </a:extLst>
            </p:cNvPr>
            <p:cNvSpPr/>
            <p:nvPr/>
          </p:nvSpPr>
          <p:spPr>
            <a:xfrm>
              <a:off x="10017808" y="5330819"/>
              <a:ext cx="1329638" cy="5830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Data converter from line buffers to BRAM format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7554218-731D-5278-BFEA-8240873863BE}"/>
                </a:ext>
              </a:extLst>
            </p:cNvPr>
            <p:cNvSpPr/>
            <p:nvPr/>
          </p:nvSpPr>
          <p:spPr>
            <a:xfrm>
              <a:off x="8979621" y="5330819"/>
              <a:ext cx="779951" cy="5830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tx1"/>
                  </a:solidFill>
                </a:rPr>
                <a:t>MaxPool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2B5D996-A77F-946F-3994-490582D2E5CD}"/>
                </a:ext>
              </a:extLst>
            </p:cNvPr>
            <p:cNvCxnSpPr>
              <a:stCxn id="20" idx="2"/>
              <a:endCxn id="28" idx="0"/>
            </p:cNvCxnSpPr>
            <p:nvPr/>
          </p:nvCxnSpPr>
          <p:spPr>
            <a:xfrm>
              <a:off x="10682627" y="4712487"/>
              <a:ext cx="0" cy="1674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2D3C34F-E383-422D-26CF-ED090478ADE9}"/>
                </a:ext>
              </a:extLst>
            </p:cNvPr>
            <p:cNvCxnSpPr>
              <a:stCxn id="28" idx="2"/>
              <a:endCxn id="30" idx="0"/>
            </p:cNvCxnSpPr>
            <p:nvPr/>
          </p:nvCxnSpPr>
          <p:spPr>
            <a:xfrm>
              <a:off x="10682627" y="5089379"/>
              <a:ext cx="0" cy="241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ED7CC52-048E-CA01-97E6-296B7FB3CE37}"/>
                </a:ext>
              </a:extLst>
            </p:cNvPr>
            <p:cNvCxnSpPr>
              <a:stCxn id="30" idx="1"/>
              <a:endCxn id="31" idx="3"/>
            </p:cNvCxnSpPr>
            <p:nvPr/>
          </p:nvCxnSpPr>
          <p:spPr>
            <a:xfrm flipH="1">
              <a:off x="9759572" y="5622330"/>
              <a:ext cx="2582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164D916-1A55-740A-FCE0-14D3A0C2399C}"/>
                </a:ext>
              </a:extLst>
            </p:cNvPr>
            <p:cNvCxnSpPr>
              <a:stCxn id="31" idx="1"/>
              <a:endCxn id="29" idx="3"/>
            </p:cNvCxnSpPr>
            <p:nvPr/>
          </p:nvCxnSpPr>
          <p:spPr>
            <a:xfrm flipH="1">
              <a:off x="8753716" y="5622330"/>
              <a:ext cx="2259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96A1B3B9-25B5-A266-06AE-F2D8C08F20C1}"/>
                </a:ext>
              </a:extLst>
            </p:cNvPr>
            <p:cNvCxnSpPr>
              <a:endCxn id="21" idx="1"/>
            </p:cNvCxnSpPr>
            <p:nvPr/>
          </p:nvCxnSpPr>
          <p:spPr>
            <a:xfrm flipV="1">
              <a:off x="7407746" y="2387711"/>
              <a:ext cx="2610062" cy="177689"/>
            </a:xfrm>
            <a:prstGeom prst="bentConnector3">
              <a:avLst>
                <a:gd name="adj1" fmla="val 796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F0DF06D3-F6DC-B7D0-C19A-AEE861E03048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rot="16200000" flipH="1">
              <a:off x="7231935" y="2949211"/>
              <a:ext cx="1473260" cy="70563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AC368127-0483-B051-7926-1836AEC0CAE7}"/>
                </a:ext>
              </a:extLst>
            </p:cNvPr>
            <p:cNvCxnSpPr>
              <a:stCxn id="29" idx="1"/>
            </p:cNvCxnSpPr>
            <p:nvPr/>
          </p:nvCxnSpPr>
          <p:spPr>
            <a:xfrm rot="10800000">
              <a:off x="7519036" y="2565398"/>
              <a:ext cx="279021" cy="305693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FFCB0E2-C5A6-1506-C233-0662F53AF1CB}"/>
                </a:ext>
              </a:extLst>
            </p:cNvPr>
            <p:cNvSpPr/>
            <p:nvPr/>
          </p:nvSpPr>
          <p:spPr>
            <a:xfrm>
              <a:off x="3221144" y="3428999"/>
              <a:ext cx="1100666" cy="10016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Read classification scores and find highest 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347C708-411B-41C0-7082-00B1BA77E39C}"/>
                </a:ext>
              </a:extLst>
            </p:cNvPr>
            <p:cNvSpPr/>
            <p:nvPr/>
          </p:nvSpPr>
          <p:spPr>
            <a:xfrm>
              <a:off x="3221142" y="4878912"/>
              <a:ext cx="1100667" cy="10016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7 segment display driver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CE93535-7455-12EF-8F93-E57B5E060672}"/>
                </a:ext>
              </a:extLst>
            </p:cNvPr>
            <p:cNvCxnSpPr>
              <a:cxnSpLocks/>
              <a:stCxn id="39" idx="2"/>
              <a:endCxn id="40" idx="0"/>
            </p:cNvCxnSpPr>
            <p:nvPr/>
          </p:nvCxnSpPr>
          <p:spPr>
            <a:xfrm flipH="1">
              <a:off x="3771476" y="4430612"/>
              <a:ext cx="1" cy="448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C9C7CEB-B211-36F1-2186-BC5C1BAA8105}"/>
                </a:ext>
              </a:extLst>
            </p:cNvPr>
            <p:cNvSpPr/>
            <p:nvPr/>
          </p:nvSpPr>
          <p:spPr>
            <a:xfrm>
              <a:off x="304800" y="4920397"/>
              <a:ext cx="1354666" cy="9186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 segment display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F5C8787-60E6-CB0E-197F-37D02A1051CE}"/>
                </a:ext>
              </a:extLst>
            </p:cNvPr>
            <p:cNvCxnSpPr>
              <a:cxnSpLocks/>
              <a:stCxn id="40" idx="1"/>
              <a:endCxn id="43" idx="3"/>
            </p:cNvCxnSpPr>
            <p:nvPr/>
          </p:nvCxnSpPr>
          <p:spPr>
            <a:xfrm flipH="1">
              <a:off x="1659466" y="5379719"/>
              <a:ext cx="15616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C7733FB-9CFD-D9EF-569A-68A7F744B503}"/>
                </a:ext>
              </a:extLst>
            </p:cNvPr>
            <p:cNvSpPr/>
            <p:nvPr/>
          </p:nvSpPr>
          <p:spPr>
            <a:xfrm rot="16200000">
              <a:off x="4702649" y="4335575"/>
              <a:ext cx="1434188" cy="2437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Input </a:t>
              </a:r>
              <a:r>
                <a:rPr lang="en-US" sz="1100" dirty="0" err="1">
                  <a:solidFill>
                    <a:schemeClr val="tx1"/>
                  </a:solidFill>
                </a:rPr>
                <a:t>Fmap</a:t>
              </a:r>
              <a:r>
                <a:rPr lang="en-US" sz="1100" dirty="0">
                  <a:solidFill>
                    <a:schemeClr val="tx1"/>
                  </a:solidFill>
                </a:rPr>
                <a:t> BRAM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2D90A26-2E85-C99C-B8BA-EC8615C6BA72}"/>
                </a:ext>
              </a:extLst>
            </p:cNvPr>
            <p:cNvSpPr/>
            <p:nvPr/>
          </p:nvSpPr>
          <p:spPr>
            <a:xfrm rot="16200000">
              <a:off x="5130491" y="4335575"/>
              <a:ext cx="1434188" cy="2437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 </a:t>
              </a:r>
              <a:r>
                <a:rPr lang="en-US" sz="1100" dirty="0" err="1">
                  <a:solidFill>
                    <a:schemeClr val="tx1"/>
                  </a:solidFill>
                </a:rPr>
                <a:t>WeightsBRAM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7666C85-3A40-0451-CC67-A7435841CB73}"/>
                </a:ext>
              </a:extLst>
            </p:cNvPr>
            <p:cNvSpPr/>
            <p:nvPr/>
          </p:nvSpPr>
          <p:spPr>
            <a:xfrm rot="16200000">
              <a:off x="5558333" y="4319720"/>
              <a:ext cx="1434188" cy="2437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Instruction BRAM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C0AA80A-2E53-6C88-20F9-08A14F189669}"/>
                </a:ext>
              </a:extLst>
            </p:cNvPr>
            <p:cNvSpPr/>
            <p:nvPr/>
          </p:nvSpPr>
          <p:spPr>
            <a:xfrm rot="16200000">
              <a:off x="5984967" y="4319720"/>
              <a:ext cx="1434188" cy="2437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Activations BRAM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53EF60C-4739-8693-7286-183C357286BA}"/>
                </a:ext>
              </a:extLst>
            </p:cNvPr>
            <p:cNvCxnSpPr>
              <a:stCxn id="77" idx="3"/>
            </p:cNvCxnSpPr>
            <p:nvPr/>
          </p:nvCxnSpPr>
          <p:spPr>
            <a:xfrm flipH="1" flipV="1">
              <a:off x="5419743" y="3034599"/>
              <a:ext cx="1" cy="70575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B176C89D-8C94-24D1-6AEB-B13633769A2A}"/>
                </a:ext>
              </a:extLst>
            </p:cNvPr>
            <p:cNvCxnSpPr/>
            <p:nvPr/>
          </p:nvCxnSpPr>
          <p:spPr>
            <a:xfrm flipH="1" flipV="1">
              <a:off x="5846526" y="3026671"/>
              <a:ext cx="1" cy="70575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CF9F299-5AE8-F1A6-8434-81B54F6872C0}"/>
                </a:ext>
              </a:extLst>
            </p:cNvPr>
            <p:cNvCxnSpPr/>
            <p:nvPr/>
          </p:nvCxnSpPr>
          <p:spPr>
            <a:xfrm flipH="1" flipV="1">
              <a:off x="6273308" y="3011595"/>
              <a:ext cx="1" cy="70575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146DBA6-FE64-81FD-B888-671DAC8D61C6}"/>
                </a:ext>
              </a:extLst>
            </p:cNvPr>
            <p:cNvCxnSpPr/>
            <p:nvPr/>
          </p:nvCxnSpPr>
          <p:spPr>
            <a:xfrm flipH="1" flipV="1">
              <a:off x="6699327" y="3011595"/>
              <a:ext cx="1" cy="70575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20D3662E-D1F1-4AF3-1663-8F8EDF35303F}"/>
                </a:ext>
              </a:extLst>
            </p:cNvPr>
            <p:cNvCxnSpPr>
              <a:endCxn id="39" idx="3"/>
            </p:cNvCxnSpPr>
            <p:nvPr/>
          </p:nvCxnSpPr>
          <p:spPr>
            <a:xfrm rot="5400000">
              <a:off x="4234098" y="3114383"/>
              <a:ext cx="903135" cy="72771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828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33865-9FBB-78F2-1BC6-790DC6A1E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383D7B8A-0DED-33B9-C9A0-DB50A02F5A0F}"/>
              </a:ext>
            </a:extLst>
          </p:cNvPr>
          <p:cNvGrpSpPr/>
          <p:nvPr/>
        </p:nvGrpSpPr>
        <p:grpSpPr>
          <a:xfrm>
            <a:off x="304800" y="411480"/>
            <a:ext cx="11582400" cy="6035040"/>
            <a:chOff x="304800" y="411480"/>
            <a:chExt cx="11582400" cy="60350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4CE925-A73D-E37F-3A0E-4FB641B8636D}"/>
                </a:ext>
              </a:extLst>
            </p:cNvPr>
            <p:cNvSpPr/>
            <p:nvPr/>
          </p:nvSpPr>
          <p:spPr>
            <a:xfrm>
              <a:off x="2812414" y="411480"/>
              <a:ext cx="9074786" cy="603504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>
                  <a:solidFill>
                    <a:schemeClr val="tx1"/>
                  </a:solidFill>
                </a:rPr>
                <a:t>Artix-7 XC7A200T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4B6878-FDD3-F538-767A-C2FA904DF8F6}"/>
                </a:ext>
              </a:extLst>
            </p:cNvPr>
            <p:cNvSpPr/>
            <p:nvPr/>
          </p:nvSpPr>
          <p:spPr>
            <a:xfrm>
              <a:off x="304800" y="1701799"/>
              <a:ext cx="1354666" cy="17272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PC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D01CE3F-BD64-AEA0-AD3A-0256AC43A491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1659466" y="2565400"/>
              <a:ext cx="115294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2C39A3-684B-7B68-8AD1-BAC88CB68093}"/>
                </a:ext>
              </a:extLst>
            </p:cNvPr>
            <p:cNvSpPr txBox="1"/>
            <p:nvPr/>
          </p:nvSpPr>
          <p:spPr>
            <a:xfrm>
              <a:off x="1744980" y="2421141"/>
              <a:ext cx="92583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700" dirty="0"/>
                <a:t>Serial link</a:t>
              </a:r>
              <a:endParaRPr lang="en-IN" sz="7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0BA2D5-2F81-E3AA-02CB-8ACCF0804EF9}"/>
                </a:ext>
              </a:extLst>
            </p:cNvPr>
            <p:cNvSpPr/>
            <p:nvPr/>
          </p:nvSpPr>
          <p:spPr>
            <a:xfrm>
              <a:off x="3221143" y="2096200"/>
              <a:ext cx="1100667" cy="93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Serial to BRAM DMA handler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D721445-267E-A047-2E59-C8F9C8D1C521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2812414" y="2565400"/>
              <a:ext cx="4087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476973-E046-AFE8-6A25-16FFDE2460DE}"/>
                </a:ext>
              </a:extLst>
            </p:cNvPr>
            <p:cNvSpPr txBox="1"/>
            <p:nvPr/>
          </p:nvSpPr>
          <p:spPr>
            <a:xfrm>
              <a:off x="2812414" y="2421141"/>
              <a:ext cx="31792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700" dirty="0"/>
                <a:t>GPIO</a:t>
              </a:r>
              <a:endParaRPr lang="en-IN" sz="7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456D28-F620-7A73-3D62-FB863BE52BB8}"/>
                </a:ext>
              </a:extLst>
            </p:cNvPr>
            <p:cNvSpPr/>
            <p:nvPr/>
          </p:nvSpPr>
          <p:spPr>
            <a:xfrm>
              <a:off x="4908179" y="2096200"/>
              <a:ext cx="1946038" cy="93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AXI Bus for BRAMs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A02FC87-0265-5110-AE6D-51E4E3A9989B}"/>
                </a:ext>
              </a:extLst>
            </p:cNvPr>
            <p:cNvCxnSpPr>
              <a:cxnSpLocks/>
              <a:stCxn id="8" idx="3"/>
              <a:endCxn id="11" idx="1"/>
            </p:cNvCxnSpPr>
            <p:nvPr/>
          </p:nvCxnSpPr>
          <p:spPr>
            <a:xfrm>
              <a:off x="4321810" y="2565400"/>
              <a:ext cx="5863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D15DD6-A18D-5CA1-DB76-6CE69D613E12}"/>
                </a:ext>
              </a:extLst>
            </p:cNvPr>
            <p:cNvSpPr/>
            <p:nvPr/>
          </p:nvSpPr>
          <p:spPr>
            <a:xfrm>
              <a:off x="7407746" y="608535"/>
              <a:ext cx="4250852" cy="6252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Controller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7F9D70C8-A1FE-1254-BE0F-BBD09A034F74}"/>
                </a:ext>
              </a:extLst>
            </p:cNvPr>
            <p:cNvCxnSpPr>
              <a:cxnSpLocks/>
              <a:stCxn id="11" idx="0"/>
              <a:endCxn id="13" idx="1"/>
            </p:cNvCxnSpPr>
            <p:nvPr/>
          </p:nvCxnSpPr>
          <p:spPr>
            <a:xfrm rot="5400000" flipH="1" flipV="1">
              <a:off x="6056957" y="745411"/>
              <a:ext cx="1175030" cy="152654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C407CC-9457-E3E4-7F60-179ECCA09C4C}"/>
                </a:ext>
              </a:extLst>
            </p:cNvPr>
            <p:cNvSpPr txBox="1"/>
            <p:nvPr/>
          </p:nvSpPr>
          <p:spPr>
            <a:xfrm rot="16200000">
              <a:off x="5316479" y="1347102"/>
              <a:ext cx="773430" cy="323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700" dirty="0"/>
                <a:t>Opcode, </a:t>
              </a:r>
              <a:br>
                <a:rPr lang="en-US" sz="700" dirty="0"/>
              </a:br>
              <a:r>
                <a:rPr lang="en-US" sz="700" dirty="0"/>
                <a:t>Data read </a:t>
              </a:r>
              <a:r>
                <a:rPr lang="en-US" sz="700" dirty="0" err="1"/>
                <a:t>addr</a:t>
              </a:r>
              <a:r>
                <a:rPr lang="en-US" sz="700" dirty="0"/>
                <a:t>,</a:t>
              </a:r>
              <a:br>
                <a:rPr lang="en-US" sz="700" dirty="0"/>
              </a:br>
              <a:r>
                <a:rPr lang="en-US" sz="700" dirty="0"/>
                <a:t>Data write </a:t>
              </a:r>
              <a:r>
                <a:rPr lang="en-US" sz="700" dirty="0" err="1"/>
                <a:t>addr</a:t>
              </a:r>
              <a:endParaRPr lang="en-IN" sz="7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609FE-7429-5DEC-2155-314D20FCFC04}"/>
                </a:ext>
              </a:extLst>
            </p:cNvPr>
            <p:cNvSpPr/>
            <p:nvPr/>
          </p:nvSpPr>
          <p:spPr>
            <a:xfrm>
              <a:off x="7407748" y="1701799"/>
              <a:ext cx="4250852" cy="45476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Systolic matrix multiplier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2FD1BD0-F43A-5BF2-2300-1DD934DFAF2C}"/>
                </a:ext>
              </a:extLst>
            </p:cNvPr>
            <p:cNvCxnSpPr>
              <a:cxnSpLocks/>
              <a:stCxn id="13" idx="2"/>
              <a:endCxn id="16" idx="0"/>
            </p:cNvCxnSpPr>
            <p:nvPr/>
          </p:nvCxnSpPr>
          <p:spPr>
            <a:xfrm>
              <a:off x="9533172" y="1233804"/>
              <a:ext cx="2" cy="4679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52911E1-368F-840B-1A06-A614B2DDC13C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6854217" y="2565400"/>
              <a:ext cx="55352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D3C0B34-8F6B-95B5-2A36-DCB2B54EE027}"/>
                </a:ext>
              </a:extLst>
            </p:cNvPr>
            <p:cNvSpPr/>
            <p:nvPr/>
          </p:nvSpPr>
          <p:spPr>
            <a:xfrm>
              <a:off x="8321382" y="3366671"/>
              <a:ext cx="864669" cy="13439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Data converter for input </a:t>
              </a:r>
              <a:r>
                <a:rPr lang="en-US" sz="1100" dirty="0" err="1">
                  <a:solidFill>
                    <a:schemeClr val="tx1"/>
                  </a:solidFill>
                </a:rPr>
                <a:t>fmap</a:t>
              </a:r>
              <a:r>
                <a:rPr lang="en-US" sz="1100" dirty="0">
                  <a:solidFill>
                    <a:schemeClr val="tx1"/>
                  </a:solidFill>
                </a:rPr>
                <a:t> to line buffers for PE array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2443B44-23E9-E380-8C55-E8F7C33CFB69}"/>
                </a:ext>
              </a:extLst>
            </p:cNvPr>
            <p:cNvSpPr/>
            <p:nvPr/>
          </p:nvSpPr>
          <p:spPr>
            <a:xfrm>
              <a:off x="10017808" y="3368513"/>
              <a:ext cx="1329638" cy="134397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25x10 PE Array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93D1677-E556-58CA-55FD-51C94BCE0ACC}"/>
                </a:ext>
              </a:extLst>
            </p:cNvPr>
            <p:cNvSpPr/>
            <p:nvPr/>
          </p:nvSpPr>
          <p:spPr>
            <a:xfrm>
              <a:off x="10017808" y="2096200"/>
              <a:ext cx="1329638" cy="5830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Data converter for weights to line buffers for PE array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CDC5548-52AA-99AA-313C-3414C49A1D8F}"/>
                </a:ext>
              </a:extLst>
            </p:cNvPr>
            <p:cNvSpPr/>
            <p:nvPr/>
          </p:nvSpPr>
          <p:spPr>
            <a:xfrm>
              <a:off x="10017808" y="2839147"/>
              <a:ext cx="1329638" cy="3617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Weights buffer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CF754FC-C05D-18D9-04CA-BC7D75F5C755}"/>
                </a:ext>
              </a:extLst>
            </p:cNvPr>
            <p:cNvSpPr/>
            <p:nvPr/>
          </p:nvSpPr>
          <p:spPr>
            <a:xfrm rot="16200000">
              <a:off x="8944560" y="3859412"/>
              <a:ext cx="1336806" cy="3617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Input </a:t>
              </a:r>
              <a:r>
                <a:rPr lang="en-US" sz="1100" dirty="0" err="1">
                  <a:solidFill>
                    <a:schemeClr val="tx1"/>
                  </a:solidFill>
                </a:rPr>
                <a:t>fmap</a:t>
              </a:r>
              <a:r>
                <a:rPr lang="en-US" sz="1100" dirty="0">
                  <a:solidFill>
                    <a:schemeClr val="tx1"/>
                  </a:solidFill>
                </a:rPr>
                <a:t> buffer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DF36B25-58F1-AE99-DBD5-E9EEE6C65D82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10682627" y="2679221"/>
              <a:ext cx="0" cy="1599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6B88013-EE85-6134-773D-5AD77F0C869A}"/>
                </a:ext>
              </a:extLst>
            </p:cNvPr>
            <p:cNvCxnSpPr>
              <a:stCxn id="22" idx="2"/>
              <a:endCxn id="20" idx="0"/>
            </p:cNvCxnSpPr>
            <p:nvPr/>
          </p:nvCxnSpPr>
          <p:spPr>
            <a:xfrm>
              <a:off x="10682627" y="3200871"/>
              <a:ext cx="0" cy="1676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9BD771A-E9F8-E82D-AC2F-020575785811}"/>
                </a:ext>
              </a:extLst>
            </p:cNvPr>
            <p:cNvCxnSpPr>
              <a:stCxn id="19" idx="3"/>
              <a:endCxn id="23" idx="0"/>
            </p:cNvCxnSpPr>
            <p:nvPr/>
          </p:nvCxnSpPr>
          <p:spPr>
            <a:xfrm>
              <a:off x="9186051" y="4038658"/>
              <a:ext cx="246050" cy="1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BC2C41E-B466-90E1-A81F-9CEE971AD459}"/>
                </a:ext>
              </a:extLst>
            </p:cNvPr>
            <p:cNvCxnSpPr>
              <a:stCxn id="23" idx="2"/>
              <a:endCxn id="20" idx="1"/>
            </p:cNvCxnSpPr>
            <p:nvPr/>
          </p:nvCxnSpPr>
          <p:spPr>
            <a:xfrm>
              <a:off x="9793825" y="4040274"/>
              <a:ext cx="223983" cy="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1C1476-EB66-593E-8AD7-0691463FC4CC}"/>
                </a:ext>
              </a:extLst>
            </p:cNvPr>
            <p:cNvSpPr/>
            <p:nvPr/>
          </p:nvSpPr>
          <p:spPr>
            <a:xfrm>
              <a:off x="10017808" y="4879903"/>
              <a:ext cx="1329638" cy="2094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tx1"/>
                  </a:solidFill>
                </a:rPr>
                <a:t>ReLU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33599C9-F864-F8BB-A648-9BB6A5410D00}"/>
                </a:ext>
              </a:extLst>
            </p:cNvPr>
            <p:cNvSpPr/>
            <p:nvPr/>
          </p:nvSpPr>
          <p:spPr>
            <a:xfrm>
              <a:off x="7798056" y="5330819"/>
              <a:ext cx="955660" cy="5830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Max Pool</a:t>
              </a:r>
              <a:endParaRPr lang="en-IN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63D4F34-2EEA-7A9D-5306-227943890765}"/>
                </a:ext>
              </a:extLst>
            </p:cNvPr>
            <p:cNvSpPr/>
            <p:nvPr/>
          </p:nvSpPr>
          <p:spPr>
            <a:xfrm>
              <a:off x="10017808" y="5330819"/>
              <a:ext cx="1329638" cy="5830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Data converter from line buffers to BRAM format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AA04441-06DA-1CAB-F6E6-0C03D5F75368}"/>
                </a:ext>
              </a:extLst>
            </p:cNvPr>
            <p:cNvSpPr/>
            <p:nvPr/>
          </p:nvSpPr>
          <p:spPr>
            <a:xfrm>
              <a:off x="8979621" y="5330819"/>
              <a:ext cx="779951" cy="5830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Fixed point 16 truncation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91305CF-28FE-12A5-6FDA-45965F4A618C}"/>
                </a:ext>
              </a:extLst>
            </p:cNvPr>
            <p:cNvCxnSpPr>
              <a:stCxn id="20" idx="2"/>
              <a:endCxn id="28" idx="0"/>
            </p:cNvCxnSpPr>
            <p:nvPr/>
          </p:nvCxnSpPr>
          <p:spPr>
            <a:xfrm>
              <a:off x="10682627" y="4712487"/>
              <a:ext cx="0" cy="1674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808DAE7-2858-28C9-2F35-BB0DE96E6788}"/>
                </a:ext>
              </a:extLst>
            </p:cNvPr>
            <p:cNvCxnSpPr>
              <a:stCxn id="28" idx="2"/>
              <a:endCxn id="30" idx="0"/>
            </p:cNvCxnSpPr>
            <p:nvPr/>
          </p:nvCxnSpPr>
          <p:spPr>
            <a:xfrm>
              <a:off x="10682627" y="5089379"/>
              <a:ext cx="0" cy="241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405ECDA-E74E-F443-4EC0-BDC5B0175519}"/>
                </a:ext>
              </a:extLst>
            </p:cNvPr>
            <p:cNvCxnSpPr>
              <a:stCxn id="30" idx="1"/>
              <a:endCxn id="31" idx="3"/>
            </p:cNvCxnSpPr>
            <p:nvPr/>
          </p:nvCxnSpPr>
          <p:spPr>
            <a:xfrm flipH="1">
              <a:off x="9759572" y="5622330"/>
              <a:ext cx="2582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2EF5149-FAE1-4912-ACE9-8C211799386F}"/>
                </a:ext>
              </a:extLst>
            </p:cNvPr>
            <p:cNvCxnSpPr>
              <a:stCxn id="31" idx="1"/>
              <a:endCxn id="29" idx="3"/>
            </p:cNvCxnSpPr>
            <p:nvPr/>
          </p:nvCxnSpPr>
          <p:spPr>
            <a:xfrm flipH="1">
              <a:off x="8753716" y="5622330"/>
              <a:ext cx="2259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BA0E8D57-D855-D767-A76C-9AF09AE7599C}"/>
                </a:ext>
              </a:extLst>
            </p:cNvPr>
            <p:cNvCxnSpPr>
              <a:endCxn id="21" idx="1"/>
            </p:cNvCxnSpPr>
            <p:nvPr/>
          </p:nvCxnSpPr>
          <p:spPr>
            <a:xfrm flipV="1">
              <a:off x="7407746" y="2387711"/>
              <a:ext cx="2610062" cy="177689"/>
            </a:xfrm>
            <a:prstGeom prst="bentConnector3">
              <a:avLst>
                <a:gd name="adj1" fmla="val 796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03D35D0A-9131-570A-11B1-5225C1F71BD9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rot="16200000" flipH="1">
              <a:off x="7231935" y="2949211"/>
              <a:ext cx="1473260" cy="70563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98007341-846A-289D-7C7B-C7258A756CFA}"/>
                </a:ext>
              </a:extLst>
            </p:cNvPr>
            <p:cNvCxnSpPr>
              <a:stCxn id="29" idx="1"/>
            </p:cNvCxnSpPr>
            <p:nvPr/>
          </p:nvCxnSpPr>
          <p:spPr>
            <a:xfrm rot="10800000">
              <a:off x="7519036" y="2565398"/>
              <a:ext cx="279021" cy="305693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CBFDEA5-2AB7-E49E-1858-A80E9BC30011}"/>
                </a:ext>
              </a:extLst>
            </p:cNvPr>
            <p:cNvSpPr/>
            <p:nvPr/>
          </p:nvSpPr>
          <p:spPr>
            <a:xfrm>
              <a:off x="3221144" y="3428999"/>
              <a:ext cx="1100666" cy="10016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Read classification scores and find highest 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CC75462-5026-896F-CECA-3BC967C4895B}"/>
                </a:ext>
              </a:extLst>
            </p:cNvPr>
            <p:cNvSpPr/>
            <p:nvPr/>
          </p:nvSpPr>
          <p:spPr>
            <a:xfrm>
              <a:off x="3221142" y="4878912"/>
              <a:ext cx="1100667" cy="10016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7 segment display driver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03DB6E7-2F6E-BEB9-DB82-DECCAE026DC5}"/>
                </a:ext>
              </a:extLst>
            </p:cNvPr>
            <p:cNvCxnSpPr>
              <a:cxnSpLocks/>
              <a:stCxn id="39" idx="2"/>
              <a:endCxn id="40" idx="0"/>
            </p:cNvCxnSpPr>
            <p:nvPr/>
          </p:nvCxnSpPr>
          <p:spPr>
            <a:xfrm flipH="1">
              <a:off x="3771476" y="4430612"/>
              <a:ext cx="1" cy="448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7BA754D-FC94-7FDD-C57F-E7E15B831389}"/>
                </a:ext>
              </a:extLst>
            </p:cNvPr>
            <p:cNvSpPr/>
            <p:nvPr/>
          </p:nvSpPr>
          <p:spPr>
            <a:xfrm>
              <a:off x="304800" y="4920397"/>
              <a:ext cx="1354666" cy="9186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 segment display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57981EE-7E7A-F575-F67C-0BBF16C87A17}"/>
                </a:ext>
              </a:extLst>
            </p:cNvPr>
            <p:cNvCxnSpPr>
              <a:cxnSpLocks/>
              <a:stCxn id="40" idx="1"/>
              <a:endCxn id="43" idx="3"/>
            </p:cNvCxnSpPr>
            <p:nvPr/>
          </p:nvCxnSpPr>
          <p:spPr>
            <a:xfrm flipH="1">
              <a:off x="1659466" y="5379719"/>
              <a:ext cx="15616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316A46A-504F-ADA4-160B-19A2A305ECFA}"/>
                </a:ext>
              </a:extLst>
            </p:cNvPr>
            <p:cNvSpPr/>
            <p:nvPr/>
          </p:nvSpPr>
          <p:spPr>
            <a:xfrm rot="16200000">
              <a:off x="4702649" y="4335575"/>
              <a:ext cx="1434188" cy="2437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Input </a:t>
              </a:r>
              <a:r>
                <a:rPr lang="en-US" sz="1100" dirty="0" err="1">
                  <a:solidFill>
                    <a:schemeClr val="tx1"/>
                  </a:solidFill>
                </a:rPr>
                <a:t>Fmap</a:t>
              </a:r>
              <a:r>
                <a:rPr lang="en-US" sz="1100" dirty="0">
                  <a:solidFill>
                    <a:schemeClr val="tx1"/>
                  </a:solidFill>
                </a:rPr>
                <a:t> BRAM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80F173E-C679-B84E-F992-B8E15CE49BB6}"/>
                </a:ext>
              </a:extLst>
            </p:cNvPr>
            <p:cNvSpPr/>
            <p:nvPr/>
          </p:nvSpPr>
          <p:spPr>
            <a:xfrm rot="16200000">
              <a:off x="5130491" y="4335575"/>
              <a:ext cx="1434188" cy="2437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 </a:t>
              </a:r>
              <a:r>
                <a:rPr lang="en-US" sz="1100" dirty="0" err="1">
                  <a:solidFill>
                    <a:schemeClr val="tx1"/>
                  </a:solidFill>
                </a:rPr>
                <a:t>WeightsBRAM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108C161-F348-1419-43E4-BCDD3B04ED3E}"/>
                </a:ext>
              </a:extLst>
            </p:cNvPr>
            <p:cNvSpPr/>
            <p:nvPr/>
          </p:nvSpPr>
          <p:spPr>
            <a:xfrm rot="16200000">
              <a:off x="5558333" y="4319720"/>
              <a:ext cx="1434188" cy="2437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Instruction BRAM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7E48A0E-8858-A294-1D3C-CCDDF87AE1EF}"/>
                </a:ext>
              </a:extLst>
            </p:cNvPr>
            <p:cNvSpPr/>
            <p:nvPr/>
          </p:nvSpPr>
          <p:spPr>
            <a:xfrm rot="16200000">
              <a:off x="5984967" y="4319720"/>
              <a:ext cx="1434188" cy="2437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Activations BRAM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9A572E9-C314-B93B-884A-5EF349300C92}"/>
                </a:ext>
              </a:extLst>
            </p:cNvPr>
            <p:cNvCxnSpPr>
              <a:stCxn id="77" idx="3"/>
            </p:cNvCxnSpPr>
            <p:nvPr/>
          </p:nvCxnSpPr>
          <p:spPr>
            <a:xfrm flipH="1" flipV="1">
              <a:off x="5419743" y="3034599"/>
              <a:ext cx="1" cy="70575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E29137A-259A-415C-C131-8656063F84AC}"/>
                </a:ext>
              </a:extLst>
            </p:cNvPr>
            <p:cNvCxnSpPr/>
            <p:nvPr/>
          </p:nvCxnSpPr>
          <p:spPr>
            <a:xfrm flipH="1" flipV="1">
              <a:off x="5846526" y="3026671"/>
              <a:ext cx="1" cy="70575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5780BAE-E1F4-BCB5-E741-EA9A4CD649E2}"/>
                </a:ext>
              </a:extLst>
            </p:cNvPr>
            <p:cNvCxnSpPr/>
            <p:nvPr/>
          </p:nvCxnSpPr>
          <p:spPr>
            <a:xfrm flipH="1" flipV="1">
              <a:off x="6273308" y="3011595"/>
              <a:ext cx="1" cy="70575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2B231C5F-DFB7-B688-E01F-0965136F85A4}"/>
                </a:ext>
              </a:extLst>
            </p:cNvPr>
            <p:cNvCxnSpPr/>
            <p:nvPr/>
          </p:nvCxnSpPr>
          <p:spPr>
            <a:xfrm flipH="1" flipV="1">
              <a:off x="6699327" y="3011595"/>
              <a:ext cx="1" cy="70575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141EDABE-5FD9-BD3A-9B53-162E0CF25A53}"/>
                </a:ext>
              </a:extLst>
            </p:cNvPr>
            <p:cNvCxnSpPr>
              <a:endCxn id="39" idx="3"/>
            </p:cNvCxnSpPr>
            <p:nvPr/>
          </p:nvCxnSpPr>
          <p:spPr>
            <a:xfrm rot="5400000">
              <a:off x="4234098" y="3114383"/>
              <a:ext cx="903135" cy="72771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3101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80CA4-73E4-0535-192A-34E3292E4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DF89864D-2FD4-4FAC-7C19-37F8C05C59A0}"/>
              </a:ext>
            </a:extLst>
          </p:cNvPr>
          <p:cNvGrpSpPr/>
          <p:nvPr/>
        </p:nvGrpSpPr>
        <p:grpSpPr>
          <a:xfrm>
            <a:off x="157316" y="250723"/>
            <a:ext cx="11877368" cy="6356554"/>
            <a:chOff x="157316" y="250723"/>
            <a:chExt cx="11877368" cy="6356554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1DCE432-052E-23A8-FF3E-352972686A53}"/>
                </a:ext>
              </a:extLst>
            </p:cNvPr>
            <p:cNvGrpSpPr/>
            <p:nvPr/>
          </p:nvGrpSpPr>
          <p:grpSpPr>
            <a:xfrm>
              <a:off x="304800" y="411480"/>
              <a:ext cx="11582400" cy="6035040"/>
              <a:chOff x="304800" y="411480"/>
              <a:chExt cx="11582400" cy="603504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4B832-97C1-0DBA-0018-647CF8D814E5}"/>
                  </a:ext>
                </a:extLst>
              </p:cNvPr>
              <p:cNvSpPr/>
              <p:nvPr/>
            </p:nvSpPr>
            <p:spPr>
              <a:xfrm>
                <a:off x="2042160" y="411480"/>
                <a:ext cx="9845040" cy="60350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Artix-7 XC7A200T</a:t>
                </a:r>
                <a:endParaRPr lang="en-I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52C0192-65FC-9960-3F82-DF3F8917889E}"/>
                  </a:ext>
                </a:extLst>
              </p:cNvPr>
              <p:cNvSpPr/>
              <p:nvPr/>
            </p:nvSpPr>
            <p:spPr>
              <a:xfrm>
                <a:off x="304800" y="1701799"/>
                <a:ext cx="1354666" cy="17272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PC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C7728274-EAC5-E006-FED5-A24749202164}"/>
                  </a:ext>
                </a:extLst>
              </p:cNvPr>
              <p:cNvCxnSpPr>
                <a:cxnSpLocks/>
                <a:stCxn id="5" idx="3"/>
              </p:cNvCxnSpPr>
              <p:nvPr/>
            </p:nvCxnSpPr>
            <p:spPr>
              <a:xfrm>
                <a:off x="1659466" y="2565400"/>
                <a:ext cx="38269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09190D-743D-A987-6CF7-DD1481D76D58}"/>
                  </a:ext>
                </a:extLst>
              </p:cNvPr>
              <p:cNvSpPr txBox="1"/>
              <p:nvPr/>
            </p:nvSpPr>
            <p:spPr>
              <a:xfrm>
                <a:off x="1381358" y="2421252"/>
                <a:ext cx="925830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700" dirty="0"/>
                  <a:t>Serial link</a:t>
                </a:r>
                <a:endParaRPr lang="en-IN" sz="700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D7AAF3-4955-27E8-F780-699FEC760129}"/>
                  </a:ext>
                </a:extLst>
              </p:cNvPr>
              <p:cNvSpPr/>
              <p:nvPr/>
            </p:nvSpPr>
            <p:spPr>
              <a:xfrm>
                <a:off x="2439313" y="2096200"/>
                <a:ext cx="1100667" cy="9383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Serial to BRAM DMA handler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42E048F3-F6F0-E9FB-DCBD-B931F5968673}"/>
                  </a:ext>
                </a:extLst>
              </p:cNvPr>
              <p:cNvCxnSpPr>
                <a:cxnSpLocks/>
                <a:endCxn id="8" idx="1"/>
              </p:cNvCxnSpPr>
              <p:nvPr/>
            </p:nvCxnSpPr>
            <p:spPr>
              <a:xfrm>
                <a:off x="2030584" y="2565400"/>
                <a:ext cx="40872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5DD42B-EDD6-038B-BA4A-53698AB32C04}"/>
                  </a:ext>
                </a:extLst>
              </p:cNvPr>
              <p:cNvSpPr txBox="1"/>
              <p:nvPr/>
            </p:nvSpPr>
            <p:spPr>
              <a:xfrm>
                <a:off x="2030584" y="2421141"/>
                <a:ext cx="317924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700" dirty="0"/>
                  <a:t>GPIO</a:t>
                </a:r>
                <a:endParaRPr lang="en-IN" sz="700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E7F04A-1365-6CA5-8347-EE5EA66FD141}"/>
                  </a:ext>
                </a:extLst>
              </p:cNvPr>
              <p:cNvSpPr/>
              <p:nvPr/>
            </p:nvSpPr>
            <p:spPr>
              <a:xfrm>
                <a:off x="4126349" y="2096200"/>
                <a:ext cx="1837768" cy="9383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AXI Bus for BRAMs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AE3BDF14-A074-D8D7-CB54-C08BB889548B}"/>
                  </a:ext>
                </a:extLst>
              </p:cNvPr>
              <p:cNvCxnSpPr>
                <a:cxnSpLocks/>
                <a:stCxn id="8" idx="3"/>
                <a:endCxn id="11" idx="1"/>
              </p:cNvCxnSpPr>
              <p:nvPr/>
            </p:nvCxnSpPr>
            <p:spPr>
              <a:xfrm>
                <a:off x="3539980" y="2565400"/>
                <a:ext cx="58636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5E229C4-9DD4-AA05-CD01-D293ED577FF9}"/>
                  </a:ext>
                </a:extLst>
              </p:cNvPr>
              <p:cNvSpPr/>
              <p:nvPr/>
            </p:nvSpPr>
            <p:spPr>
              <a:xfrm>
                <a:off x="7407746" y="608535"/>
                <a:ext cx="4250852" cy="62526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Controller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Connector: Elbow 13">
                <a:extLst>
                  <a:ext uri="{FF2B5EF4-FFF2-40B4-BE49-F238E27FC236}">
                    <a16:creationId xmlns:a16="http://schemas.microsoft.com/office/drawing/2014/main" id="{C32F9F37-7EB2-EEA7-A0F2-90566D5D4DC0}"/>
                  </a:ext>
                </a:extLst>
              </p:cNvPr>
              <p:cNvCxnSpPr>
                <a:cxnSpLocks/>
                <a:stCxn id="11" idx="0"/>
                <a:endCxn id="13" idx="1"/>
              </p:cNvCxnSpPr>
              <p:nvPr/>
            </p:nvCxnSpPr>
            <p:spPr>
              <a:xfrm rot="5400000" flipH="1" flipV="1">
                <a:off x="5638974" y="327429"/>
                <a:ext cx="1175030" cy="2362513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1D990A-E5FC-F3CA-96E6-ECA8AFA917FF}"/>
                  </a:ext>
                </a:extLst>
              </p:cNvPr>
              <p:cNvSpPr txBox="1"/>
              <p:nvPr/>
            </p:nvSpPr>
            <p:spPr>
              <a:xfrm rot="16200000">
                <a:off x="4534649" y="1347102"/>
                <a:ext cx="77343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700" dirty="0"/>
                  <a:t>Opcode, </a:t>
                </a:r>
                <a:br>
                  <a:rPr lang="en-US" sz="700" dirty="0"/>
                </a:br>
                <a:r>
                  <a:rPr lang="en-US" sz="700" dirty="0"/>
                  <a:t>Data read </a:t>
                </a:r>
                <a:r>
                  <a:rPr lang="en-US" sz="700" dirty="0" err="1"/>
                  <a:t>addr</a:t>
                </a:r>
                <a:r>
                  <a:rPr lang="en-US" sz="700" dirty="0"/>
                  <a:t>,</a:t>
                </a:r>
                <a:br>
                  <a:rPr lang="en-US" sz="700" dirty="0"/>
                </a:br>
                <a:r>
                  <a:rPr lang="en-US" sz="700" dirty="0"/>
                  <a:t>Data write </a:t>
                </a:r>
                <a:r>
                  <a:rPr lang="en-US" sz="700" dirty="0" err="1"/>
                  <a:t>addr</a:t>
                </a:r>
                <a:endParaRPr lang="en-IN" sz="7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4E54CD8-F026-ABFA-E975-4AC22D9E692D}"/>
                  </a:ext>
                </a:extLst>
              </p:cNvPr>
              <p:cNvSpPr/>
              <p:nvPr/>
            </p:nvSpPr>
            <p:spPr>
              <a:xfrm>
                <a:off x="7407748" y="1701799"/>
                <a:ext cx="4250852" cy="45476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Convolution + </a:t>
                </a:r>
                <a:r>
                  <a:rPr lang="en-US" sz="1100" dirty="0" err="1">
                    <a:solidFill>
                      <a:schemeClr val="tx1"/>
                    </a:solidFill>
                  </a:rPr>
                  <a:t>ReLU</a:t>
                </a:r>
                <a:r>
                  <a:rPr lang="en-US" sz="1100" dirty="0">
                    <a:solidFill>
                      <a:schemeClr val="tx1"/>
                    </a:solidFill>
                  </a:rPr>
                  <a:t>: Systolic matrix multiplier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76213631-95A4-A6FA-E868-8D2996732119}"/>
                  </a:ext>
                </a:extLst>
              </p:cNvPr>
              <p:cNvCxnSpPr>
                <a:cxnSpLocks/>
                <a:stCxn id="13" idx="2"/>
                <a:endCxn id="16" idx="0"/>
              </p:cNvCxnSpPr>
              <p:nvPr/>
            </p:nvCxnSpPr>
            <p:spPr>
              <a:xfrm>
                <a:off x="9533172" y="1233804"/>
                <a:ext cx="2" cy="4679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D4D7E74E-C9D3-9C17-D3AA-D08CB48DD382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>
                <a:off x="5964117" y="2565400"/>
                <a:ext cx="1443629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875A26-44CA-CFB5-7BB7-28918B9E07A1}"/>
                  </a:ext>
                </a:extLst>
              </p:cNvPr>
              <p:cNvSpPr/>
              <p:nvPr/>
            </p:nvSpPr>
            <p:spPr>
              <a:xfrm>
                <a:off x="8321382" y="3366671"/>
                <a:ext cx="864669" cy="13439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converter for input </a:t>
                </a:r>
                <a:r>
                  <a:rPr lang="en-US" sz="1100" dirty="0" err="1">
                    <a:solidFill>
                      <a:schemeClr val="tx1"/>
                    </a:solidFill>
                  </a:rPr>
                  <a:t>fmap</a:t>
                </a:r>
                <a:r>
                  <a:rPr lang="en-US" sz="1100" dirty="0">
                    <a:solidFill>
                      <a:schemeClr val="tx1"/>
                    </a:solidFill>
                  </a:rPr>
                  <a:t> to line buffers for PE array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D18CB1A-66DB-386A-F387-E41D4D60D8AA}"/>
                  </a:ext>
                </a:extLst>
              </p:cNvPr>
              <p:cNvSpPr/>
              <p:nvPr/>
            </p:nvSpPr>
            <p:spPr>
              <a:xfrm>
                <a:off x="10017808" y="3368513"/>
                <a:ext cx="1329638" cy="13439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25x10 PE Array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4F63BA9-17B0-FF2F-2FA9-3319E90F3C56}"/>
                  </a:ext>
                </a:extLst>
              </p:cNvPr>
              <p:cNvSpPr/>
              <p:nvPr/>
            </p:nvSpPr>
            <p:spPr>
              <a:xfrm>
                <a:off x="10017808" y="2096200"/>
                <a:ext cx="1329638" cy="5830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converter for weights to line buffers for PE array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571C974-4890-B236-4788-0CAA895683E0}"/>
                  </a:ext>
                </a:extLst>
              </p:cNvPr>
              <p:cNvSpPr/>
              <p:nvPr/>
            </p:nvSpPr>
            <p:spPr>
              <a:xfrm>
                <a:off x="10017808" y="2839147"/>
                <a:ext cx="1329638" cy="3617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Weights buffer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EB51439-364A-387C-0698-E8B5E5FBC625}"/>
                  </a:ext>
                </a:extLst>
              </p:cNvPr>
              <p:cNvSpPr/>
              <p:nvPr/>
            </p:nvSpPr>
            <p:spPr>
              <a:xfrm rot="16200000">
                <a:off x="8944560" y="3859412"/>
                <a:ext cx="1336806" cy="3617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Input </a:t>
                </a:r>
                <a:r>
                  <a:rPr lang="en-US" sz="1100" dirty="0" err="1">
                    <a:solidFill>
                      <a:schemeClr val="tx1"/>
                    </a:solidFill>
                  </a:rPr>
                  <a:t>fmap</a:t>
                </a:r>
                <a:r>
                  <a:rPr lang="en-US" sz="1100" dirty="0">
                    <a:solidFill>
                      <a:schemeClr val="tx1"/>
                    </a:solidFill>
                  </a:rPr>
                  <a:t> buffer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3B0F91BE-36C4-E40E-1E4C-15632D7435D9}"/>
                  </a:ext>
                </a:extLst>
              </p:cNvPr>
              <p:cNvCxnSpPr>
                <a:stCxn id="21" idx="2"/>
                <a:endCxn id="22" idx="0"/>
              </p:cNvCxnSpPr>
              <p:nvPr/>
            </p:nvCxnSpPr>
            <p:spPr>
              <a:xfrm>
                <a:off x="10682627" y="2679221"/>
                <a:ext cx="0" cy="1599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6B686629-58A3-ED1C-A18B-60F9C7D650A0}"/>
                  </a:ext>
                </a:extLst>
              </p:cNvPr>
              <p:cNvCxnSpPr>
                <a:stCxn id="22" idx="2"/>
                <a:endCxn id="20" idx="0"/>
              </p:cNvCxnSpPr>
              <p:nvPr/>
            </p:nvCxnSpPr>
            <p:spPr>
              <a:xfrm>
                <a:off x="10682627" y="3200871"/>
                <a:ext cx="0" cy="1676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42E9E33-A0C4-F1B5-B95C-3948B9E9D952}"/>
                  </a:ext>
                </a:extLst>
              </p:cNvPr>
              <p:cNvCxnSpPr>
                <a:stCxn id="19" idx="3"/>
                <a:endCxn id="23" idx="0"/>
              </p:cNvCxnSpPr>
              <p:nvPr/>
            </p:nvCxnSpPr>
            <p:spPr>
              <a:xfrm>
                <a:off x="9186051" y="4038658"/>
                <a:ext cx="246050" cy="16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2C719DD6-E3D2-D5EA-6010-A083FAFADB48}"/>
                  </a:ext>
                </a:extLst>
              </p:cNvPr>
              <p:cNvCxnSpPr>
                <a:stCxn id="23" idx="2"/>
                <a:endCxn id="20" idx="1"/>
              </p:cNvCxnSpPr>
              <p:nvPr/>
            </p:nvCxnSpPr>
            <p:spPr>
              <a:xfrm>
                <a:off x="9793825" y="4040274"/>
                <a:ext cx="223983" cy="2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8B7DBFC-BE17-3F20-B201-7DDE5419DAF2}"/>
                  </a:ext>
                </a:extLst>
              </p:cNvPr>
              <p:cNvSpPr/>
              <p:nvPr/>
            </p:nvSpPr>
            <p:spPr>
              <a:xfrm>
                <a:off x="10017808" y="4879903"/>
                <a:ext cx="1329638" cy="2094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 err="1">
                    <a:solidFill>
                      <a:schemeClr val="tx1"/>
                    </a:solidFill>
                  </a:rPr>
                  <a:t>ReLU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956BE47-6741-7B06-5EA6-F3C7F5173A35}"/>
                  </a:ext>
                </a:extLst>
              </p:cNvPr>
              <p:cNvSpPr/>
              <p:nvPr/>
            </p:nvSpPr>
            <p:spPr>
              <a:xfrm>
                <a:off x="10017808" y="5330819"/>
                <a:ext cx="1329638" cy="5830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converter from line buffers to BRAM format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9570D64-7206-A394-3360-779153849B3D}"/>
                  </a:ext>
                </a:extLst>
              </p:cNvPr>
              <p:cNvSpPr/>
              <p:nvPr/>
            </p:nvSpPr>
            <p:spPr>
              <a:xfrm>
                <a:off x="8979621" y="5330819"/>
                <a:ext cx="779951" cy="5830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Fixed point 16 truncation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9CE56711-7E09-CF0E-5A60-FBA34FA9DA41}"/>
                  </a:ext>
                </a:extLst>
              </p:cNvPr>
              <p:cNvCxnSpPr>
                <a:stCxn id="20" idx="2"/>
                <a:endCxn id="28" idx="0"/>
              </p:cNvCxnSpPr>
              <p:nvPr/>
            </p:nvCxnSpPr>
            <p:spPr>
              <a:xfrm>
                <a:off x="10682627" y="4712487"/>
                <a:ext cx="0" cy="1674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22D318CE-5EA4-24B1-F0A2-35D9CC695DF9}"/>
                  </a:ext>
                </a:extLst>
              </p:cNvPr>
              <p:cNvCxnSpPr>
                <a:stCxn id="28" idx="2"/>
                <a:endCxn id="30" idx="0"/>
              </p:cNvCxnSpPr>
              <p:nvPr/>
            </p:nvCxnSpPr>
            <p:spPr>
              <a:xfrm>
                <a:off x="10682627" y="5089379"/>
                <a:ext cx="0" cy="2414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D089E174-79DE-97CE-6589-023C739862E9}"/>
                  </a:ext>
                </a:extLst>
              </p:cNvPr>
              <p:cNvCxnSpPr>
                <a:stCxn id="30" idx="1"/>
                <a:endCxn id="31" idx="3"/>
              </p:cNvCxnSpPr>
              <p:nvPr/>
            </p:nvCxnSpPr>
            <p:spPr>
              <a:xfrm flipH="1">
                <a:off x="9759572" y="5622330"/>
                <a:ext cx="25823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Connector: Elbow 35">
                <a:extLst>
                  <a:ext uri="{FF2B5EF4-FFF2-40B4-BE49-F238E27FC236}">
                    <a16:creationId xmlns:a16="http://schemas.microsoft.com/office/drawing/2014/main" id="{FD35EB7A-1004-0899-BC6E-AD1CC189347F}"/>
                  </a:ext>
                </a:extLst>
              </p:cNvPr>
              <p:cNvCxnSpPr>
                <a:endCxn id="21" idx="1"/>
              </p:cNvCxnSpPr>
              <p:nvPr/>
            </p:nvCxnSpPr>
            <p:spPr>
              <a:xfrm flipV="1">
                <a:off x="7407746" y="2387711"/>
                <a:ext cx="2610062" cy="177689"/>
              </a:xfrm>
              <a:prstGeom prst="bentConnector3">
                <a:avLst>
                  <a:gd name="adj1" fmla="val 796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Connector: Elbow 36">
                <a:extLst>
                  <a:ext uri="{FF2B5EF4-FFF2-40B4-BE49-F238E27FC236}">
                    <a16:creationId xmlns:a16="http://schemas.microsoft.com/office/drawing/2014/main" id="{B84B2D6F-97E9-C38D-2225-03200FE29BA3}"/>
                  </a:ext>
                </a:extLst>
              </p:cNvPr>
              <p:cNvCxnSpPr>
                <a:cxnSpLocks/>
                <a:endCxn id="19" idx="1"/>
              </p:cNvCxnSpPr>
              <p:nvPr/>
            </p:nvCxnSpPr>
            <p:spPr>
              <a:xfrm rot="16200000" flipH="1">
                <a:off x="7231935" y="2949211"/>
                <a:ext cx="1473260" cy="705634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Connector: Elbow 37">
                <a:extLst>
                  <a:ext uri="{FF2B5EF4-FFF2-40B4-BE49-F238E27FC236}">
                    <a16:creationId xmlns:a16="http://schemas.microsoft.com/office/drawing/2014/main" id="{F981AC42-E7AC-114C-0263-4930DD9BEDB3}"/>
                  </a:ext>
                </a:extLst>
              </p:cNvPr>
              <p:cNvCxnSpPr>
                <a:cxnSpLocks/>
                <a:stCxn id="31" idx="1"/>
              </p:cNvCxnSpPr>
              <p:nvPr/>
            </p:nvCxnSpPr>
            <p:spPr>
              <a:xfrm rot="10800000">
                <a:off x="7519037" y="2565402"/>
                <a:ext cx="1460584" cy="3056929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3CA4591-2238-4DB0-10E3-8829E4E96FDB}"/>
                  </a:ext>
                </a:extLst>
              </p:cNvPr>
              <p:cNvSpPr/>
              <p:nvPr/>
            </p:nvSpPr>
            <p:spPr>
              <a:xfrm>
                <a:off x="2439314" y="3428999"/>
                <a:ext cx="1100666" cy="10016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Read classification scores and find highest 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ECE84E3-AEC1-8258-FE10-7EF1CBFD6687}"/>
                  </a:ext>
                </a:extLst>
              </p:cNvPr>
              <p:cNvSpPr/>
              <p:nvPr/>
            </p:nvSpPr>
            <p:spPr>
              <a:xfrm>
                <a:off x="2439312" y="4878912"/>
                <a:ext cx="1100667" cy="10016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7 segment display driver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E33AEBC6-0309-D2C2-5523-4AAC7F5E02DB}"/>
                  </a:ext>
                </a:extLst>
              </p:cNvPr>
              <p:cNvCxnSpPr>
                <a:cxnSpLocks/>
                <a:stCxn id="39" idx="2"/>
                <a:endCxn id="40" idx="0"/>
              </p:cNvCxnSpPr>
              <p:nvPr/>
            </p:nvCxnSpPr>
            <p:spPr>
              <a:xfrm flipH="1">
                <a:off x="2989646" y="4430612"/>
                <a:ext cx="1" cy="4483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2E0E628-9C3B-6534-F9A9-2F2F7FCD43EC}"/>
                  </a:ext>
                </a:extLst>
              </p:cNvPr>
              <p:cNvSpPr/>
              <p:nvPr/>
            </p:nvSpPr>
            <p:spPr>
              <a:xfrm>
                <a:off x="304800" y="4920397"/>
                <a:ext cx="1354666" cy="9186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 segment display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FA104F26-92A0-7C78-F685-A47E43F8A37B}"/>
                  </a:ext>
                </a:extLst>
              </p:cNvPr>
              <p:cNvCxnSpPr>
                <a:cxnSpLocks/>
                <a:stCxn id="40" idx="1"/>
                <a:endCxn id="43" idx="3"/>
              </p:cNvCxnSpPr>
              <p:nvPr/>
            </p:nvCxnSpPr>
            <p:spPr>
              <a:xfrm flipH="1">
                <a:off x="1659466" y="5379719"/>
                <a:ext cx="77984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11C5249-4AF6-60C3-771D-B56B6493B087}"/>
                  </a:ext>
                </a:extLst>
              </p:cNvPr>
              <p:cNvSpPr/>
              <p:nvPr/>
            </p:nvSpPr>
            <p:spPr>
              <a:xfrm rot="16200000">
                <a:off x="3920819" y="4335575"/>
                <a:ext cx="1434188" cy="2437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Input </a:t>
                </a:r>
                <a:r>
                  <a:rPr lang="en-US" sz="1100" dirty="0" err="1">
                    <a:solidFill>
                      <a:schemeClr val="tx1"/>
                    </a:solidFill>
                  </a:rPr>
                  <a:t>Fmap</a:t>
                </a:r>
                <a:r>
                  <a:rPr lang="en-US" sz="1100" dirty="0">
                    <a:solidFill>
                      <a:schemeClr val="tx1"/>
                    </a:solidFill>
                  </a:rPr>
                  <a:t> BRAM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5EC370A-2792-F2DD-B9C0-7AFE4628AD2F}"/>
                  </a:ext>
                </a:extLst>
              </p:cNvPr>
              <p:cNvSpPr/>
              <p:nvPr/>
            </p:nvSpPr>
            <p:spPr>
              <a:xfrm rot="16200000">
                <a:off x="4348661" y="4335575"/>
                <a:ext cx="1434188" cy="2437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r>
                  <a:rPr lang="en-US" sz="1100" dirty="0" err="1">
                    <a:solidFill>
                      <a:schemeClr val="tx1"/>
                    </a:solidFill>
                  </a:rPr>
                  <a:t>WeightsBRAM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AA3BCC1-C8BE-0502-3592-BC376E0E2814}"/>
                  </a:ext>
                </a:extLst>
              </p:cNvPr>
              <p:cNvSpPr/>
              <p:nvPr/>
            </p:nvSpPr>
            <p:spPr>
              <a:xfrm rot="16200000">
                <a:off x="4776503" y="4319720"/>
                <a:ext cx="1434188" cy="2437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Instruction BRAM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00278D3-13E3-D25C-E509-74CBC17C4317}"/>
                  </a:ext>
                </a:extLst>
              </p:cNvPr>
              <p:cNvSpPr/>
              <p:nvPr/>
            </p:nvSpPr>
            <p:spPr>
              <a:xfrm rot="16200000">
                <a:off x="5203137" y="4319720"/>
                <a:ext cx="1434188" cy="2437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Activations BRAM</a:t>
                </a:r>
                <a:endParaRPr lang="en-IN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8F0A68EF-F414-FE85-7A8F-AED8A1A624CF}"/>
                  </a:ext>
                </a:extLst>
              </p:cNvPr>
              <p:cNvCxnSpPr>
                <a:stCxn id="77" idx="3"/>
              </p:cNvCxnSpPr>
              <p:nvPr/>
            </p:nvCxnSpPr>
            <p:spPr>
              <a:xfrm flipH="1" flipV="1">
                <a:off x="4637913" y="3034599"/>
                <a:ext cx="1" cy="705751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6518267F-3472-6C5D-021A-9F5A8868C168}"/>
                  </a:ext>
                </a:extLst>
              </p:cNvPr>
              <p:cNvCxnSpPr/>
              <p:nvPr/>
            </p:nvCxnSpPr>
            <p:spPr>
              <a:xfrm flipH="1" flipV="1">
                <a:off x="5064696" y="3026671"/>
                <a:ext cx="1" cy="705751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AA688090-D59C-D08B-BFFF-E51F641A6ECF}"/>
                  </a:ext>
                </a:extLst>
              </p:cNvPr>
              <p:cNvCxnSpPr/>
              <p:nvPr/>
            </p:nvCxnSpPr>
            <p:spPr>
              <a:xfrm flipH="1" flipV="1">
                <a:off x="5491478" y="3011595"/>
                <a:ext cx="1" cy="705751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702721B-D39F-FC0F-7E9A-D1199B8E4B69}"/>
                  </a:ext>
                </a:extLst>
              </p:cNvPr>
              <p:cNvCxnSpPr/>
              <p:nvPr/>
            </p:nvCxnSpPr>
            <p:spPr>
              <a:xfrm flipH="1" flipV="1">
                <a:off x="5917497" y="3011595"/>
                <a:ext cx="1" cy="705751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Connector: Elbow 86">
                <a:extLst>
                  <a:ext uri="{FF2B5EF4-FFF2-40B4-BE49-F238E27FC236}">
                    <a16:creationId xmlns:a16="http://schemas.microsoft.com/office/drawing/2014/main" id="{A432721E-BD6D-26DE-ED73-04C05E26B14E}"/>
                  </a:ext>
                </a:extLst>
              </p:cNvPr>
              <p:cNvCxnSpPr>
                <a:endCxn id="39" idx="3"/>
              </p:cNvCxnSpPr>
              <p:nvPr/>
            </p:nvCxnSpPr>
            <p:spPr>
              <a:xfrm rot="5400000">
                <a:off x="3452268" y="3114383"/>
                <a:ext cx="903135" cy="72771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5F7364A-AECB-DD8B-E41D-6F0A01FB62A3}"/>
                  </a:ext>
                </a:extLst>
              </p:cNvPr>
              <p:cNvSpPr/>
              <p:nvPr/>
            </p:nvSpPr>
            <p:spPr>
              <a:xfrm>
                <a:off x="6390984" y="1701613"/>
                <a:ext cx="955660" cy="5830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Max Pool</a:t>
                </a:r>
                <a:endParaRPr lang="en-IN" sz="1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8" name="Connector: Elbow 47">
                <a:extLst>
                  <a:ext uri="{FF2B5EF4-FFF2-40B4-BE49-F238E27FC236}">
                    <a16:creationId xmlns:a16="http://schemas.microsoft.com/office/drawing/2014/main" id="{1288CBF7-8700-77FE-899F-4B764DF90C4B}"/>
                  </a:ext>
                </a:extLst>
              </p:cNvPr>
              <p:cNvCxnSpPr>
                <a:cxnSpLocks/>
                <a:stCxn id="2" idx="1"/>
              </p:cNvCxnSpPr>
              <p:nvPr/>
            </p:nvCxnSpPr>
            <p:spPr>
              <a:xfrm rot="10800000" flipV="1">
                <a:off x="5947002" y="1993124"/>
                <a:ext cx="443982" cy="394586"/>
              </a:xfrm>
              <a:prstGeom prst="bentConnector3">
                <a:avLst>
                  <a:gd name="adj1" fmla="val 5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Connector: Elbow 66">
                <a:extLst>
                  <a:ext uri="{FF2B5EF4-FFF2-40B4-BE49-F238E27FC236}">
                    <a16:creationId xmlns:a16="http://schemas.microsoft.com/office/drawing/2014/main" id="{DDC03C48-4967-AA18-B6CA-A1F97CE664E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508894" y="599121"/>
                <a:ext cx="457200" cy="1737360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5EE3512-C2E9-B16E-B1E2-C67F2E7AA75B}"/>
                  </a:ext>
                </a:extLst>
              </p:cNvPr>
              <p:cNvSpPr/>
              <p:nvPr/>
            </p:nvSpPr>
            <p:spPr>
              <a:xfrm>
                <a:off x="6226489" y="1546438"/>
                <a:ext cx="5574978" cy="4816259"/>
              </a:xfrm>
              <a:prstGeom prst="rect">
                <a:avLst/>
              </a:prstGeom>
              <a:noFill/>
              <a:ln w="3175">
                <a:prstDash val="lgDashDot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050" i="1" dirty="0">
                    <a:solidFill>
                      <a:schemeClr val="tx1"/>
                    </a:solidFill>
                  </a:rPr>
                  <a:t>Operations</a:t>
                </a:r>
                <a:endParaRPr lang="en-IN" sz="1050" i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50AE693-DB35-21E9-F6AF-05CE2FA865B9}"/>
                </a:ext>
              </a:extLst>
            </p:cNvPr>
            <p:cNvSpPr/>
            <p:nvPr/>
          </p:nvSpPr>
          <p:spPr>
            <a:xfrm>
              <a:off x="157316" y="250723"/>
              <a:ext cx="11877368" cy="6356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3793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4AC9-56B4-29E9-4C8C-ED70A040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4BAB074A-E8ED-BBD7-EADF-0A31450A0162}"/>
              </a:ext>
            </a:extLst>
          </p:cNvPr>
          <p:cNvGrpSpPr/>
          <p:nvPr/>
        </p:nvGrpSpPr>
        <p:grpSpPr>
          <a:xfrm>
            <a:off x="157316" y="250723"/>
            <a:ext cx="11946194" cy="6435212"/>
            <a:chOff x="157316" y="250723"/>
            <a:chExt cx="11946194" cy="643521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8988FD-9300-B259-6EC6-72D5E3D29FFE}"/>
                </a:ext>
              </a:extLst>
            </p:cNvPr>
            <p:cNvSpPr/>
            <p:nvPr/>
          </p:nvSpPr>
          <p:spPr>
            <a:xfrm>
              <a:off x="157316" y="250723"/>
              <a:ext cx="11946194" cy="64352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E201900-2B09-0549-CEE4-26856B7A77BC}"/>
                </a:ext>
              </a:extLst>
            </p:cNvPr>
            <p:cNvGrpSpPr/>
            <p:nvPr/>
          </p:nvGrpSpPr>
          <p:grpSpPr>
            <a:xfrm>
              <a:off x="157316" y="250723"/>
              <a:ext cx="11877368" cy="6356554"/>
              <a:chOff x="157316" y="250723"/>
              <a:chExt cx="11877368" cy="635655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1AA36049-E9C0-05D5-AE61-C1980436D024}"/>
                  </a:ext>
                </a:extLst>
              </p:cNvPr>
              <p:cNvGrpSpPr/>
              <p:nvPr/>
            </p:nvGrpSpPr>
            <p:grpSpPr>
              <a:xfrm>
                <a:off x="157316" y="250723"/>
                <a:ext cx="11877368" cy="6356554"/>
                <a:chOff x="157316" y="250723"/>
                <a:chExt cx="11877368" cy="6356554"/>
              </a:xfrm>
            </p:grpSpPr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CB4D08AB-CDF1-D68E-2B2A-BB67BDEB445E}"/>
                    </a:ext>
                  </a:extLst>
                </p:cNvPr>
                <p:cNvGrpSpPr/>
                <p:nvPr/>
              </p:nvGrpSpPr>
              <p:grpSpPr>
                <a:xfrm>
                  <a:off x="157316" y="250723"/>
                  <a:ext cx="11877368" cy="6356554"/>
                  <a:chOff x="157316" y="250723"/>
                  <a:chExt cx="11877368" cy="6356554"/>
                </a:xfrm>
              </p:grpSpPr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DFE63296-4D4F-39AE-C11A-12E8C3F03DA1}"/>
                      </a:ext>
                    </a:extLst>
                  </p:cNvPr>
                  <p:cNvGrpSpPr/>
                  <p:nvPr/>
                </p:nvGrpSpPr>
                <p:grpSpPr>
                  <a:xfrm>
                    <a:off x="304800" y="411480"/>
                    <a:ext cx="11582400" cy="6035040"/>
                    <a:chOff x="304800" y="411480"/>
                    <a:chExt cx="11582400" cy="6035040"/>
                  </a:xfrm>
                </p:grpSpPr>
                <p:sp>
                  <p:nvSpPr>
                    <p:cNvPr id="4" name="Rectangle 3">
                      <a:extLst>
                        <a:ext uri="{FF2B5EF4-FFF2-40B4-BE49-F238E27FC236}">
                          <a16:creationId xmlns:a16="http://schemas.microsoft.com/office/drawing/2014/main" id="{20777974-8FDB-3395-2A99-5CD3F2597B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42160" y="411480"/>
                      <a:ext cx="9845040" cy="6035040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t"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Artix-7 XC7A200T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CE2F851E-BDAF-5416-8560-41D6886B7C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800" y="1701799"/>
                      <a:ext cx="1354666" cy="1727201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PC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6" name="Straight Arrow Connector 5">
                      <a:extLst>
                        <a:ext uri="{FF2B5EF4-FFF2-40B4-BE49-F238E27FC236}">
                          <a16:creationId xmlns:a16="http://schemas.microsoft.com/office/drawing/2014/main" id="{BCBFE11F-3CFD-2CF9-CBE0-C0FBD6AA36FF}"/>
                        </a:ext>
                      </a:extLst>
                    </p:cNvPr>
                    <p:cNvCxnSpPr>
                      <a:cxnSpLocks/>
                      <a:stCxn id="5" idx="3"/>
                    </p:cNvCxnSpPr>
                    <p:nvPr/>
                  </p:nvCxnSpPr>
                  <p:spPr>
                    <a:xfrm>
                      <a:off x="1659466" y="2565400"/>
                      <a:ext cx="38269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7F0BAC92-1FE4-C45F-C908-1DDC583EA6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81358" y="2421252"/>
                      <a:ext cx="925830" cy="10772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sz="700" dirty="0"/>
                        <a:t>Serial link</a:t>
                      </a:r>
                      <a:endParaRPr lang="en-IN" sz="700" dirty="0"/>
                    </a:p>
                  </p:txBody>
                </p:sp>
                <p:sp>
                  <p:nvSpPr>
                    <p:cNvPr id="8" name="Rectangle 7">
                      <a:extLst>
                        <a:ext uri="{FF2B5EF4-FFF2-40B4-BE49-F238E27FC236}">
                          <a16:creationId xmlns:a16="http://schemas.microsoft.com/office/drawing/2014/main" id="{D76E24F4-0D8A-D67D-632C-FC9EE3E7F8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39313" y="2096200"/>
                      <a:ext cx="1100667" cy="93839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Serial to BRAM DMA handler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9" name="Straight Arrow Connector 8">
                      <a:extLst>
                        <a:ext uri="{FF2B5EF4-FFF2-40B4-BE49-F238E27FC236}">
                          <a16:creationId xmlns:a16="http://schemas.microsoft.com/office/drawing/2014/main" id="{87F518A3-5F62-AFCA-C5B1-F66840DA0CA1}"/>
                        </a:ext>
                      </a:extLst>
                    </p:cNvPr>
                    <p:cNvCxnSpPr>
                      <a:cxnSpLocks/>
                      <a:endCxn id="8" idx="1"/>
                    </p:cNvCxnSpPr>
                    <p:nvPr/>
                  </p:nvCxnSpPr>
                  <p:spPr>
                    <a:xfrm>
                      <a:off x="2030584" y="2565400"/>
                      <a:ext cx="408729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12CB7475-7360-212A-BCB5-4CE819034A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30584" y="2421141"/>
                      <a:ext cx="317924" cy="10772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sz="700" dirty="0"/>
                        <a:t>GPIO</a:t>
                      </a:r>
                      <a:endParaRPr lang="en-IN" sz="700" dirty="0"/>
                    </a:p>
                  </p:txBody>
                </p:sp>
                <p:cxnSp>
                  <p:nvCxnSpPr>
                    <p:cNvPr id="12" name="Straight Arrow Connector 11">
                      <a:extLst>
                        <a:ext uri="{FF2B5EF4-FFF2-40B4-BE49-F238E27FC236}">
                          <a16:creationId xmlns:a16="http://schemas.microsoft.com/office/drawing/2014/main" id="{18AC8CA5-4AA3-0302-71B1-542294B6D469}"/>
                        </a:ext>
                      </a:extLst>
                    </p:cNvPr>
                    <p:cNvCxnSpPr>
                      <a:cxnSpLocks/>
                      <a:stCxn id="8" idx="3"/>
                      <a:endCxn id="80" idx="1"/>
                    </p:cNvCxnSpPr>
                    <p:nvPr/>
                  </p:nvCxnSpPr>
                  <p:spPr>
                    <a:xfrm flipV="1">
                      <a:off x="3539980" y="2560165"/>
                      <a:ext cx="993443" cy="523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73DFFA26-D17F-F4D4-45F9-E3C9BDCA2A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7746" y="608535"/>
                      <a:ext cx="4250852" cy="62526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Controller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4" name="Connector: Elbow 13">
                      <a:extLst>
                        <a:ext uri="{FF2B5EF4-FFF2-40B4-BE49-F238E27FC236}">
                          <a16:creationId xmlns:a16="http://schemas.microsoft.com/office/drawing/2014/main" id="{841D4C7B-4FE3-BD2D-07D9-9C42258DE2CB}"/>
                        </a:ext>
                      </a:extLst>
                    </p:cNvPr>
                    <p:cNvCxnSpPr>
                      <a:cxnSpLocks/>
                      <a:stCxn id="79" idx="3"/>
                      <a:endCxn id="13" idx="1"/>
                    </p:cNvCxnSpPr>
                    <p:nvPr/>
                  </p:nvCxnSpPr>
                  <p:spPr>
                    <a:xfrm flipV="1">
                      <a:off x="5506108" y="921170"/>
                      <a:ext cx="1901638" cy="254637"/>
                    </a:xfrm>
                    <a:prstGeom prst="bentConnector3">
                      <a:avLst>
                        <a:gd name="adj1" fmla="val 50000"/>
                      </a:avLst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F62C9AA4-DD21-78DF-C68C-129C9871EBC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09285" y="797032"/>
                      <a:ext cx="77343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sz="700" dirty="0"/>
                        <a:t>Opcode, 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Data read </a:t>
                      </a:r>
                      <a:r>
                        <a:rPr lang="en-US" sz="700" dirty="0" err="1"/>
                        <a:t>addr</a:t>
                      </a:r>
                      <a:r>
                        <a:rPr lang="en-US" sz="700" dirty="0"/>
                        <a:t>,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Data write </a:t>
                      </a:r>
                      <a:r>
                        <a:rPr lang="en-US" sz="700" dirty="0" err="1"/>
                        <a:t>addr</a:t>
                      </a:r>
                      <a:endParaRPr lang="en-IN" sz="700" dirty="0"/>
                    </a:p>
                  </p:txBody>
                </p:sp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88C7EAC0-BB95-DD13-19BB-1DB46F6BB1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7748" y="1701799"/>
                      <a:ext cx="4250852" cy="4547663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t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Convolution +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ReLU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: Systolic matrix multiplier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7" name="Straight Arrow Connector 16">
                      <a:extLst>
                        <a:ext uri="{FF2B5EF4-FFF2-40B4-BE49-F238E27FC236}">
                          <a16:creationId xmlns:a16="http://schemas.microsoft.com/office/drawing/2014/main" id="{EC3A3CB4-93D4-9E1D-FBEC-53788D581682}"/>
                        </a:ext>
                      </a:extLst>
                    </p:cNvPr>
                    <p:cNvCxnSpPr>
                      <a:cxnSpLocks/>
                      <a:stCxn id="13" idx="2"/>
                      <a:endCxn id="16" idx="0"/>
                    </p:cNvCxnSpPr>
                    <p:nvPr/>
                  </p:nvCxnSpPr>
                  <p:spPr>
                    <a:xfrm>
                      <a:off x="9533172" y="1233804"/>
                      <a:ext cx="2" cy="46799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Arrow Connector 17">
                      <a:extLst>
                        <a:ext uri="{FF2B5EF4-FFF2-40B4-BE49-F238E27FC236}">
                          <a16:creationId xmlns:a16="http://schemas.microsoft.com/office/drawing/2014/main" id="{7382116B-B7EA-4DD5-96AE-8A23F059597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64117" y="2565400"/>
                      <a:ext cx="1443629" cy="0"/>
                    </a:xfrm>
                    <a:prstGeom prst="straightConnector1">
                      <a:avLst/>
                    </a:prstGeom>
                    <a:ln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991D061D-7E8B-DC98-05F6-D70B52A183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1382" y="3366671"/>
                      <a:ext cx="864669" cy="1343973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Data converter for input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fmap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to line buffers for PE array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625BC769-83F9-2277-5BD1-FE775D9599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17808" y="3368513"/>
                      <a:ext cx="1329638" cy="1343974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25x10 PE Array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66B9965E-E38B-211B-A2E6-7059B0C67D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17808" y="2096200"/>
                      <a:ext cx="1329638" cy="583021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Data converter for weights to line buffers for PE array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6D203A01-29B6-F514-8635-9D59CE399E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17808" y="2839147"/>
                      <a:ext cx="1329638" cy="361724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Weights buffer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34EF928F-D7B6-0C38-A521-A7CF145A79C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44560" y="3859412"/>
                      <a:ext cx="1336806" cy="361724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fmap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buffer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24" name="Straight Arrow Connector 23">
                      <a:extLst>
                        <a:ext uri="{FF2B5EF4-FFF2-40B4-BE49-F238E27FC236}">
                          <a16:creationId xmlns:a16="http://schemas.microsoft.com/office/drawing/2014/main" id="{6518BD0F-9DF8-03F6-6551-2493B7B162C9}"/>
                        </a:ext>
                      </a:extLst>
                    </p:cNvPr>
                    <p:cNvCxnSpPr>
                      <a:stCxn id="21" idx="2"/>
                      <a:endCxn id="22" idx="0"/>
                    </p:cNvCxnSpPr>
                    <p:nvPr/>
                  </p:nvCxnSpPr>
                  <p:spPr>
                    <a:xfrm>
                      <a:off x="10682627" y="2679221"/>
                      <a:ext cx="0" cy="15992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Arrow Connector 24">
                      <a:extLst>
                        <a:ext uri="{FF2B5EF4-FFF2-40B4-BE49-F238E27FC236}">
                          <a16:creationId xmlns:a16="http://schemas.microsoft.com/office/drawing/2014/main" id="{983D4E63-1866-832C-B96B-6868639FA896}"/>
                        </a:ext>
                      </a:extLst>
                    </p:cNvPr>
                    <p:cNvCxnSpPr>
                      <a:stCxn id="22" idx="2"/>
                      <a:endCxn id="20" idx="0"/>
                    </p:cNvCxnSpPr>
                    <p:nvPr/>
                  </p:nvCxnSpPr>
                  <p:spPr>
                    <a:xfrm>
                      <a:off x="10682627" y="3200871"/>
                      <a:ext cx="0" cy="167642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Arrow Connector 25">
                      <a:extLst>
                        <a:ext uri="{FF2B5EF4-FFF2-40B4-BE49-F238E27FC236}">
                          <a16:creationId xmlns:a16="http://schemas.microsoft.com/office/drawing/2014/main" id="{0F3C9AA5-78C1-77F9-C1C3-D1EE4767D2D5}"/>
                        </a:ext>
                      </a:extLst>
                    </p:cNvPr>
                    <p:cNvCxnSpPr>
                      <a:stCxn id="19" idx="3"/>
                      <a:endCxn id="23" idx="0"/>
                    </p:cNvCxnSpPr>
                    <p:nvPr/>
                  </p:nvCxnSpPr>
                  <p:spPr>
                    <a:xfrm>
                      <a:off x="9186051" y="4038658"/>
                      <a:ext cx="246050" cy="161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Straight Arrow Connector 26">
                      <a:extLst>
                        <a:ext uri="{FF2B5EF4-FFF2-40B4-BE49-F238E27FC236}">
                          <a16:creationId xmlns:a16="http://schemas.microsoft.com/office/drawing/2014/main" id="{52BE8959-F492-779B-B6AB-AD0D697A0CF3}"/>
                        </a:ext>
                      </a:extLst>
                    </p:cNvPr>
                    <p:cNvCxnSpPr>
                      <a:stCxn id="23" idx="2"/>
                      <a:endCxn id="20" idx="1"/>
                    </p:cNvCxnSpPr>
                    <p:nvPr/>
                  </p:nvCxnSpPr>
                  <p:spPr>
                    <a:xfrm>
                      <a:off x="9793825" y="4040274"/>
                      <a:ext cx="223983" cy="22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8" name="Rectangle 27">
                      <a:extLst>
                        <a:ext uri="{FF2B5EF4-FFF2-40B4-BE49-F238E27FC236}">
                          <a16:creationId xmlns:a16="http://schemas.microsoft.com/office/drawing/2014/main" id="{2BE2055A-FFCC-9CA5-D2BF-F738A10C70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17808" y="4879903"/>
                      <a:ext cx="1329638" cy="20947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ReLU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A4542691-BC50-8065-757B-AA1FF82FDB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17808" y="5330819"/>
                      <a:ext cx="1329638" cy="583021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Data converter from line buffers to BRAM format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1" name="Rectangle 30">
                      <a:extLst>
                        <a:ext uri="{FF2B5EF4-FFF2-40B4-BE49-F238E27FC236}">
                          <a16:creationId xmlns:a16="http://schemas.microsoft.com/office/drawing/2014/main" id="{1232F267-10B3-279E-27CB-64605C263D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9621" y="5330819"/>
                      <a:ext cx="779951" cy="583021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Fixed point 16 truncation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2" name="Straight Arrow Connector 31">
                      <a:extLst>
                        <a:ext uri="{FF2B5EF4-FFF2-40B4-BE49-F238E27FC236}">
                          <a16:creationId xmlns:a16="http://schemas.microsoft.com/office/drawing/2014/main" id="{2739A6C0-9B58-5D2E-445D-1DB7E81516A0}"/>
                        </a:ext>
                      </a:extLst>
                    </p:cNvPr>
                    <p:cNvCxnSpPr>
                      <a:stCxn id="20" idx="2"/>
                      <a:endCxn id="28" idx="0"/>
                    </p:cNvCxnSpPr>
                    <p:nvPr/>
                  </p:nvCxnSpPr>
                  <p:spPr>
                    <a:xfrm>
                      <a:off x="10682627" y="4712487"/>
                      <a:ext cx="0" cy="16741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Straight Arrow Connector 32">
                      <a:extLst>
                        <a:ext uri="{FF2B5EF4-FFF2-40B4-BE49-F238E27FC236}">
                          <a16:creationId xmlns:a16="http://schemas.microsoft.com/office/drawing/2014/main" id="{9E53BCFF-8D6E-25C3-307B-4C033CECEF7F}"/>
                        </a:ext>
                      </a:extLst>
                    </p:cNvPr>
                    <p:cNvCxnSpPr>
                      <a:stCxn id="28" idx="2"/>
                      <a:endCxn id="30" idx="0"/>
                    </p:cNvCxnSpPr>
                    <p:nvPr/>
                  </p:nvCxnSpPr>
                  <p:spPr>
                    <a:xfrm>
                      <a:off x="10682627" y="5089379"/>
                      <a:ext cx="0" cy="24144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" name="Straight Arrow Connector 33">
                      <a:extLst>
                        <a:ext uri="{FF2B5EF4-FFF2-40B4-BE49-F238E27FC236}">
                          <a16:creationId xmlns:a16="http://schemas.microsoft.com/office/drawing/2014/main" id="{CC1AD52C-C84B-CF64-C791-906C2D4CFC44}"/>
                        </a:ext>
                      </a:extLst>
                    </p:cNvPr>
                    <p:cNvCxnSpPr>
                      <a:stCxn id="30" idx="1"/>
                      <a:endCxn id="31" idx="3"/>
                    </p:cNvCxnSpPr>
                    <p:nvPr/>
                  </p:nvCxnSpPr>
                  <p:spPr>
                    <a:xfrm flipH="1">
                      <a:off x="9759572" y="5622330"/>
                      <a:ext cx="258236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Connector: Elbow 35">
                      <a:extLst>
                        <a:ext uri="{FF2B5EF4-FFF2-40B4-BE49-F238E27FC236}">
                          <a16:creationId xmlns:a16="http://schemas.microsoft.com/office/drawing/2014/main" id="{1B9E8E02-D931-0F5C-9FE8-D1792F8A1F9D}"/>
                        </a:ext>
                      </a:extLst>
                    </p:cNvPr>
                    <p:cNvCxnSpPr>
                      <a:endCxn id="21" idx="1"/>
                    </p:cNvCxnSpPr>
                    <p:nvPr/>
                  </p:nvCxnSpPr>
                  <p:spPr>
                    <a:xfrm flipV="1">
                      <a:off x="7407746" y="2387711"/>
                      <a:ext cx="2610062" cy="177689"/>
                    </a:xfrm>
                    <a:prstGeom prst="bentConnector3">
                      <a:avLst>
                        <a:gd name="adj1" fmla="val 7960"/>
                      </a:avLst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Connector: Elbow 36">
                      <a:extLst>
                        <a:ext uri="{FF2B5EF4-FFF2-40B4-BE49-F238E27FC236}">
                          <a16:creationId xmlns:a16="http://schemas.microsoft.com/office/drawing/2014/main" id="{E42C96C2-A43B-CF2E-4890-90C6FCEEDFF6}"/>
                        </a:ext>
                      </a:extLst>
                    </p:cNvPr>
                    <p:cNvCxnSpPr>
                      <a:cxnSpLocks/>
                      <a:endCxn id="19" idx="1"/>
                    </p:cNvCxnSpPr>
                    <p:nvPr/>
                  </p:nvCxnSpPr>
                  <p:spPr>
                    <a:xfrm rot="16200000" flipH="1">
                      <a:off x="7231935" y="2949211"/>
                      <a:ext cx="1473260" cy="705634"/>
                    </a:xfrm>
                    <a:prstGeom prst="bentConnector2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Connector: Elbow 37">
                      <a:extLst>
                        <a:ext uri="{FF2B5EF4-FFF2-40B4-BE49-F238E27FC236}">
                          <a16:creationId xmlns:a16="http://schemas.microsoft.com/office/drawing/2014/main" id="{E8459223-AF80-A25A-399A-31B5D336FC90}"/>
                        </a:ext>
                      </a:extLst>
                    </p:cNvPr>
                    <p:cNvCxnSpPr>
                      <a:cxnSpLocks/>
                      <a:stCxn id="31" idx="1"/>
                    </p:cNvCxnSpPr>
                    <p:nvPr/>
                  </p:nvCxnSpPr>
                  <p:spPr>
                    <a:xfrm rot="10800000">
                      <a:off x="7519037" y="2565402"/>
                      <a:ext cx="1460584" cy="3056929"/>
                    </a:xfrm>
                    <a:prstGeom prst="bentConnector2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9" name="Rectangle 38">
                      <a:extLst>
                        <a:ext uri="{FF2B5EF4-FFF2-40B4-BE49-F238E27FC236}">
                          <a16:creationId xmlns:a16="http://schemas.microsoft.com/office/drawing/2014/main" id="{4B40CAE4-F154-5D9E-308F-2A9153BBE1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39314" y="3428999"/>
                      <a:ext cx="1100666" cy="1001613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Read classification scores and find highest 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0" name="Rectangle 39">
                      <a:extLst>
                        <a:ext uri="{FF2B5EF4-FFF2-40B4-BE49-F238E27FC236}">
                          <a16:creationId xmlns:a16="http://schemas.microsoft.com/office/drawing/2014/main" id="{186443FD-2850-5263-06DB-EC2F8583D3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39312" y="4878912"/>
                      <a:ext cx="1100667" cy="1001613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 segment display driver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41" name="Straight Arrow Connector 40">
                      <a:extLst>
                        <a:ext uri="{FF2B5EF4-FFF2-40B4-BE49-F238E27FC236}">
                          <a16:creationId xmlns:a16="http://schemas.microsoft.com/office/drawing/2014/main" id="{F0E50DCE-0DE4-A725-B724-568C8C8B3D8D}"/>
                        </a:ext>
                      </a:extLst>
                    </p:cNvPr>
                    <p:cNvCxnSpPr>
                      <a:cxnSpLocks/>
                      <a:stCxn id="39" idx="2"/>
                      <a:endCxn id="40" idx="0"/>
                    </p:cNvCxnSpPr>
                    <p:nvPr/>
                  </p:nvCxnSpPr>
                  <p:spPr>
                    <a:xfrm flipH="1">
                      <a:off x="2989646" y="4430612"/>
                      <a:ext cx="1" cy="44830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3" name="Rectangle 42">
                      <a:extLst>
                        <a:ext uri="{FF2B5EF4-FFF2-40B4-BE49-F238E27FC236}">
                          <a16:creationId xmlns:a16="http://schemas.microsoft.com/office/drawing/2014/main" id="{2AC438E2-FB14-68B8-E8EA-13171CDB1A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800" y="4920397"/>
                      <a:ext cx="1354666" cy="918643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 segment display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44" name="Straight Arrow Connector 43">
                      <a:extLst>
                        <a:ext uri="{FF2B5EF4-FFF2-40B4-BE49-F238E27FC236}">
                          <a16:creationId xmlns:a16="http://schemas.microsoft.com/office/drawing/2014/main" id="{97E4167B-D3F0-7C0F-1789-63EA460BA4CA}"/>
                        </a:ext>
                      </a:extLst>
                    </p:cNvPr>
                    <p:cNvCxnSpPr>
                      <a:cxnSpLocks/>
                      <a:stCxn id="40" idx="1"/>
                      <a:endCxn id="43" idx="3"/>
                    </p:cNvCxnSpPr>
                    <p:nvPr/>
                  </p:nvCxnSpPr>
                  <p:spPr>
                    <a:xfrm flipH="1">
                      <a:off x="1659466" y="5379719"/>
                      <a:ext cx="779846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8" name="Rectangle 77">
                      <a:extLst>
                        <a:ext uri="{FF2B5EF4-FFF2-40B4-BE49-F238E27FC236}">
                          <a16:creationId xmlns:a16="http://schemas.microsoft.com/office/drawing/2014/main" id="{C70917B3-30FA-D9A5-A39D-2BEC3936D1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33423" y="3389370"/>
                      <a:ext cx="1434188" cy="1110305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Weights BRAM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9" name="Rectangle 78">
                      <a:extLst>
                        <a:ext uri="{FF2B5EF4-FFF2-40B4-BE49-F238E27FC236}">
                          <a16:creationId xmlns:a16="http://schemas.microsoft.com/office/drawing/2014/main" id="{C4786356-F622-3F73-6ABA-58442D9C63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1920" y="1053938"/>
                      <a:ext cx="1434188" cy="243737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Instruction BRAM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0" name="Rectangle 79">
                      <a:extLst>
                        <a:ext uri="{FF2B5EF4-FFF2-40B4-BE49-F238E27FC236}">
                          <a16:creationId xmlns:a16="http://schemas.microsoft.com/office/drawing/2014/main" id="{822B4BB9-FEB9-EA2C-5CBD-BAE591509E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33423" y="2005012"/>
                      <a:ext cx="1434188" cy="111030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Activations BRAM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" name="Rectangle 1">
                      <a:extLst>
                        <a:ext uri="{FF2B5EF4-FFF2-40B4-BE49-F238E27FC236}">
                          <a16:creationId xmlns:a16="http://schemas.microsoft.com/office/drawing/2014/main" id="{C1FD1AF9-DC98-118B-08F9-5D32591AD8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0984" y="1701613"/>
                      <a:ext cx="955660" cy="583021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Max Pool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48" name="Connector: Elbow 47">
                      <a:extLst>
                        <a:ext uri="{FF2B5EF4-FFF2-40B4-BE49-F238E27FC236}">
                          <a16:creationId xmlns:a16="http://schemas.microsoft.com/office/drawing/2014/main" id="{2FD06CB0-2C8C-5EDB-44E6-267650692483}"/>
                        </a:ext>
                      </a:extLst>
                    </p:cNvPr>
                    <p:cNvCxnSpPr>
                      <a:cxnSpLocks/>
                      <a:stCxn id="2" idx="1"/>
                    </p:cNvCxnSpPr>
                    <p:nvPr/>
                  </p:nvCxnSpPr>
                  <p:spPr>
                    <a:xfrm rot="10800000" flipV="1">
                      <a:off x="5947002" y="1993124"/>
                      <a:ext cx="443982" cy="394586"/>
                    </a:xfrm>
                    <a:prstGeom prst="bentConnector3">
                      <a:avLst>
                        <a:gd name="adj1" fmla="val 50000"/>
                      </a:avLst>
                    </a:prstGeom>
                    <a:ln>
                      <a:headEnd type="triangle"/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Connector: Elbow 66">
                      <a:extLst>
                        <a:ext uri="{FF2B5EF4-FFF2-40B4-BE49-F238E27FC236}">
                          <a16:creationId xmlns:a16="http://schemas.microsoft.com/office/drawing/2014/main" id="{9934C41A-BCAD-2335-9DFB-3F1D8C368B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7508894" y="599121"/>
                      <a:ext cx="457200" cy="1737360"/>
                    </a:xfrm>
                    <a:prstGeom prst="bentConnector3">
                      <a:avLst>
                        <a:gd name="adj1" fmla="val 50000"/>
                      </a:avLst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DE830EF3-D325-A6DC-D141-3F9B335C09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26489" y="1546438"/>
                      <a:ext cx="5574978" cy="4816259"/>
                    </a:xfrm>
                    <a:prstGeom prst="rect">
                      <a:avLst/>
                    </a:prstGeom>
                    <a:noFill/>
                    <a:ln w="3175">
                      <a:prstDash val="lgDashDot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b"/>
                    <a:lstStyle/>
                    <a:p>
                      <a:r>
                        <a:rPr lang="en-US" sz="1050" i="1" dirty="0">
                          <a:solidFill>
                            <a:schemeClr val="tx1"/>
                          </a:solidFill>
                        </a:rPr>
                        <a:t>Operations</a:t>
                      </a:r>
                      <a:endParaRPr lang="en-IN" sz="105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578214BD-D13C-4734-EF15-B1E7C3688B51}"/>
                      </a:ext>
                    </a:extLst>
                  </p:cNvPr>
                  <p:cNvSpPr/>
                  <p:nvPr/>
                </p:nvSpPr>
                <p:spPr>
                  <a:xfrm>
                    <a:off x="157316" y="250723"/>
                    <a:ext cx="11877368" cy="6356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cxnSp>
              <p:nvCxnSpPr>
                <p:cNvPr id="49" name="Connector: Elbow 48">
                  <a:extLst>
                    <a:ext uri="{FF2B5EF4-FFF2-40B4-BE49-F238E27FC236}">
                      <a16:creationId xmlns:a16="http://schemas.microsoft.com/office/drawing/2014/main" id="{A72BC692-1EED-64BF-C4C2-8E69F25340AC}"/>
                    </a:ext>
                  </a:extLst>
                </p:cNvPr>
                <p:cNvCxnSpPr>
                  <a:cxnSpLocks/>
                  <a:stCxn id="78" idx="3"/>
                </p:cNvCxnSpPr>
                <p:nvPr/>
              </p:nvCxnSpPr>
              <p:spPr>
                <a:xfrm flipV="1">
                  <a:off x="5967611" y="2548467"/>
                  <a:ext cx="909478" cy="1396056"/>
                </a:xfrm>
                <a:prstGeom prst="bentConnector2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1" name="Connector: Elbow 60">
                <a:extLst>
                  <a:ext uri="{FF2B5EF4-FFF2-40B4-BE49-F238E27FC236}">
                    <a16:creationId xmlns:a16="http://schemas.microsoft.com/office/drawing/2014/main" id="{0872F28C-E95A-B18F-164A-F93DE0AF9BCB}"/>
                  </a:ext>
                </a:extLst>
              </p:cNvPr>
              <p:cNvCxnSpPr/>
              <p:nvPr/>
            </p:nvCxnSpPr>
            <p:spPr>
              <a:xfrm rot="10800000" flipV="1">
                <a:off x="3539979" y="2762865"/>
                <a:ext cx="993444" cy="934064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9696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472</Words>
  <Application>Microsoft Office PowerPoint</Application>
  <PresentationFormat>Widescreen</PresentationFormat>
  <Paragraphs>121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Prayanshu Sharma</dc:creator>
  <cp:lastModifiedBy>Prayanshu Sharma</cp:lastModifiedBy>
  <cp:revision>26</cp:revision>
  <dcterms:created xsi:type="dcterms:W3CDTF">2026-02-26T11:38:31Z</dcterms:created>
  <dcterms:modified xsi:type="dcterms:W3CDTF">2026-03-17T13:39:35Z</dcterms:modified>
</cp:coreProperties>
</file>